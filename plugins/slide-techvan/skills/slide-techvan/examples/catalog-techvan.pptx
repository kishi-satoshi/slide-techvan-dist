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7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0"/>
    <p:sldId id="263" r:id="rId9"/>
    <p:sldId id="264" r:id="rId8"/>
    <p:sldId id="265" r:id="rId7"/>
    <p:sldId id="266" r:id="rId6"/>
    <p:sldId id="267" r:id="rId5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CAC8C8"/>
    <a:srgbClr val="DCEAF7"/>
    <a:srgbClr val="000000"/>
    <a:srgbClr val="163E64"/>
    <a:srgbClr val="758FAA"/>
    <a:srgbClr val="476A8D"/>
    <a:srgbClr val="194571"/>
    <a:srgbClr val="194671"/>
    <a:srgbClr val="215E9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4303CC2-A89F-4BA8-B579-02111506000A}" v="25" dt="2024-04-02T00:05:59.4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628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907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979" y="8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5" Type="http://schemas.openxmlformats.org/officeDocument/2006/relationships/slide" Target="slides/slide12.xml"/><Relationship Id="rId6" Type="http://schemas.openxmlformats.org/officeDocument/2006/relationships/slide" Target="slides/slide11.xml"/><Relationship Id="rId7" Type="http://schemas.openxmlformats.org/officeDocument/2006/relationships/slide" Target="slides/slide10.xml"/><Relationship Id="rId8" Type="http://schemas.openxmlformats.org/officeDocument/2006/relationships/slide" Target="slides/slide9.xml"/><Relationship Id="rId9" Type="http://schemas.openxmlformats.org/officeDocument/2006/relationships/slide" Target="slides/slide8.xml"/><Relationship Id="rId10" Type="http://schemas.openxmlformats.org/officeDocument/2006/relationships/slide" Target="slides/slide7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5/10/relationships/revisionInfo" Target="revisionInfo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日中</c:v>
                </c:pt>
              </c:strCache>
            </c:strRef>
          </c:tx>
          <c:spPr>
            <a:solidFill>
              <a:srgbClr val="AEBCCC"/>
            </a:solidFill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420.0</c:v>
                </c:pt>
                <c:pt idx="1">
                  <c:v>410.0</c:v>
                </c:pt>
                <c:pt idx="2">
                  <c:v>430.0</c:v>
                </c:pt>
                <c:pt idx="3">
                  <c:v>415.0</c:v>
                </c:pt>
                <c:pt idx="4">
                  <c:v>405.0</c:v>
                </c:pt>
                <c:pt idx="5">
                  <c:v>420.0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夜間</c:v>
                </c:pt>
              </c:strCache>
            </c:strRef>
          </c:tx>
          <c:spPr>
            <a:solidFill>
              <a:srgbClr val="194671"/>
            </a:solidFill>
            <a:ln>
              <a:noFill/>
            </a:ln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sz="1400" b="1">
                    <a:solidFill>
                      <a:srgbClr val="1F4E79"/>
                    </a:solidFill>
                    <a:latin typeface="游ゴシック"/>
                    <a:ea typeface="游ゴシック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</c:strCache>
            </c:strRef>
          </c:cat>
          <c:val>
            <c:numRef>
              <c:f>Sheet1!$C$2:$C$7</c:f>
              <c:numCache>
                <c:formatCode>#,##0</c:formatCode>
                <c:ptCount val="6"/>
                <c:pt idx="0">
                  <c:v>120.0</c:v>
                </c:pt>
                <c:pt idx="1">
                  <c:v>130.0</c:v>
                </c:pt>
                <c:pt idx="2">
                  <c:v>150.0</c:v>
                </c:pt>
                <c:pt idx="3">
                  <c:v>160.0</c:v>
                </c:pt>
                <c:pt idx="4">
                  <c:v>170.0</c:v>
                </c:pt>
                <c:pt idx="5">
                  <c:v>180.0</c:v>
                </c:pt>
              </c:numCache>
            </c:numRef>
          </c:val>
        </c:ser>
        <c:gapWidth val="55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12700">
            <a:solidFill>
              <a:srgbClr val="8496AB"/>
            </a:solidFill>
          </a:ln>
        </c:spPr>
        <c:txPr>
          <a:bodyPr/>
          <a:lstStyle/>
          <a:p>
            <a:pPr>
              <a:defRPr sz="1400">
                <a:solidFill>
                  <a:srgbClr val="44546A"/>
                </a:solidFill>
                <a:latin typeface="游ゴシック"/>
                <a:ea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0.0"/>
          <c:min val="0.0"/>
        </c:scaling>
        <c:delete val="0"/>
        <c:axPos val="l"/>
        <c:majorGridlines>
          <c:spPr>
            <a:ln w="9525">
              <a:solidFill>
                <a:srgbClr val="D8E2EE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solidFill>
                  <a:srgbClr val="5F6F84"/>
                </a:solidFill>
                <a:latin typeface="游ゴシック"/>
                <a:ea typeface="游ゴシック"/>
              </a:defRPr>
            </a:pPr>
          </a:p>
        </c:txPr>
        <c:crossAx val="-2068027336"/>
        <c:crosses val="autoZero"/>
        <c:majorUnit val="100.0"/>
      </c:valAx>
    </c:plotArea>
    <c:legend>
      <c:legendPos val="t"/>
      <c:overlay val="0"/>
      <c:txPr>
        <a:bodyPr/>
        <a:lstStyle/>
        <a:p>
          <a:pPr>
            <a:defRPr sz="1400">
              <a:solidFill>
                <a:srgbClr val="44546A"/>
              </a:solidFill>
              <a:latin typeface="游ゴシック"/>
              <a:ea typeface="游ゴシック"/>
            </a:defRPr>
          </a:pPr>
        </a:p>
      </c:txPr>
    </c:legend>
    <c:dispBlanksAs val="gap"/>
  </c:chart>
  <c:txPr>
    <a:bodyPr/>
    <a:lstStyle/>
    <a:p>
      <a:pPr>
        <a:defRPr sz="1400">
          <a:solidFill>
            <a:srgbClr val="44546A"/>
          </a:solidFill>
          <a:latin typeface="游ゴシック"/>
          <a:ea typeface="游ゴシック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14AB67-2CBF-4D14-90A7-A000BFDE1A6F}" type="datetimeFigureOut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26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3542EE-0A7C-49F2-A217-E18F54692D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0944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 descr="グラフィカル ユーザー インターフェイス&#10;&#10;中程度の精度で自動的に生成された説明">
            <a:extLst>
              <a:ext uri="{FF2B5EF4-FFF2-40B4-BE49-F238E27FC236}">
                <a16:creationId xmlns:a16="http://schemas.microsoft.com/office/drawing/2014/main" id="{7E036D86-1388-1217-3594-0FB23CFCA5C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D46F9EE-5F5B-E606-32E8-28E98C1DBFBD}"/>
              </a:ext>
            </a:extLst>
          </p:cNvPr>
          <p:cNvSpPr txBox="1"/>
          <p:nvPr userDrawn="1"/>
        </p:nvSpPr>
        <p:spPr>
          <a:xfrm>
            <a:off x="11882464" y="6490778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35894915-1B34-4D91-B302-0DD780FBD655}" type="slidenum">
              <a:rPr kumimoji="1" lang="ja-JP" altLang="en-US" sz="1200" smtClean="0">
                <a:solidFill>
                  <a:schemeClr val="tx1"/>
                </a:solidFill>
              </a:rPr>
              <a:pPr/>
              <a:t>‹#›</a:t>
            </a:fld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6" name="タイトル 1"/>
          <p:cNvSpPr>
            <a:spLocks noGrp="1"/>
          </p:cNvSpPr>
          <p:nvPr>
            <p:ph type="title" hasCustomPrompt="1"/>
          </p:nvPr>
        </p:nvSpPr>
        <p:spPr>
          <a:xfrm>
            <a:off x="1384668" y="2102589"/>
            <a:ext cx="7961811" cy="1325563"/>
          </a:xfrm>
        </p:spPr>
        <p:txBody>
          <a:bodyPr>
            <a:noAutofit/>
          </a:bodyPr>
          <a:lstStyle>
            <a:lvl1pPr algn="l">
              <a:defRPr sz="4800" b="1">
                <a:solidFill>
                  <a:schemeClr val="tx2">
                    <a:lumMod val="90000"/>
                    <a:lumOff val="1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マスター タイトル</a:t>
            </a:r>
            <a:br>
              <a:rPr kumimoji="1" lang="en-US" altLang="ja-JP" dirty="0"/>
            </a:br>
            <a:r>
              <a:rPr kumimoji="1" lang="ja-JP" altLang="en-US" dirty="0"/>
              <a:t>サブタイトル</a:t>
            </a: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05D1F370-AD5F-2E12-5C70-FAC4AD404953}"/>
              </a:ext>
            </a:extLst>
          </p:cNvPr>
          <p:cNvCxnSpPr/>
          <p:nvPr userDrawn="1"/>
        </p:nvCxnSpPr>
        <p:spPr>
          <a:xfrm>
            <a:off x="1295549" y="2083359"/>
            <a:ext cx="0" cy="1269759"/>
          </a:xfrm>
          <a:prstGeom prst="line">
            <a:avLst/>
          </a:prstGeom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図 13" descr="アイコン&#10;&#10;中程度の精度で自動的に生成された説明">
            <a:extLst>
              <a:ext uri="{FF2B5EF4-FFF2-40B4-BE49-F238E27FC236}">
                <a16:creationId xmlns:a16="http://schemas.microsoft.com/office/drawing/2014/main" id="{FF22B882-78E2-7511-C600-2FE4D658A8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8789" y="1108703"/>
            <a:ext cx="1447122" cy="215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8677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 descr="グラフィカル ユーザー インターフェイス&#10;&#10;中程度の精度で自動的に生成された説明">
            <a:extLst>
              <a:ext uri="{FF2B5EF4-FFF2-40B4-BE49-F238E27FC236}">
                <a16:creationId xmlns:a16="http://schemas.microsoft.com/office/drawing/2014/main" id="{7E036D86-1388-1217-3594-0FB23CFCA5C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D46F9EE-5F5B-E606-32E8-28E98C1DBFBD}"/>
              </a:ext>
            </a:extLst>
          </p:cNvPr>
          <p:cNvSpPr txBox="1"/>
          <p:nvPr userDrawn="1"/>
        </p:nvSpPr>
        <p:spPr>
          <a:xfrm>
            <a:off x="11882464" y="6490778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35894915-1B34-4D91-B302-0DD780FBD655}" type="slidenum">
              <a:rPr kumimoji="1" lang="ja-JP" altLang="en-US" sz="1200" smtClean="0">
                <a:solidFill>
                  <a:schemeClr val="tx1"/>
                </a:solidFill>
              </a:rPr>
              <a:pPr/>
              <a:t>‹#›</a:t>
            </a:fld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6" name="タイトル 1"/>
          <p:cNvSpPr>
            <a:spLocks noGrp="1"/>
          </p:cNvSpPr>
          <p:nvPr>
            <p:ph type="title"/>
          </p:nvPr>
        </p:nvSpPr>
        <p:spPr>
          <a:xfrm>
            <a:off x="1384669" y="2795769"/>
            <a:ext cx="7961811" cy="628770"/>
          </a:xfrm>
        </p:spPr>
        <p:txBody>
          <a:bodyPr>
            <a:noAutofit/>
          </a:bodyPr>
          <a:lstStyle>
            <a:lvl1pPr algn="l">
              <a:defRPr sz="4800" b="1">
                <a:solidFill>
                  <a:schemeClr val="tx2">
                    <a:lumMod val="90000"/>
                    <a:lumOff val="1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マスター タイトル</a:t>
            </a: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05D1F370-AD5F-2E12-5C70-FAC4AD404953}"/>
              </a:ext>
            </a:extLst>
          </p:cNvPr>
          <p:cNvCxnSpPr/>
          <p:nvPr userDrawn="1"/>
        </p:nvCxnSpPr>
        <p:spPr>
          <a:xfrm>
            <a:off x="1295550" y="2776538"/>
            <a:ext cx="0" cy="648000"/>
          </a:xfrm>
          <a:prstGeom prst="line">
            <a:avLst/>
          </a:prstGeom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図 13" descr="アイコン&#10;&#10;中程度の精度で自動的に生成された説明">
            <a:extLst>
              <a:ext uri="{FF2B5EF4-FFF2-40B4-BE49-F238E27FC236}">
                <a16:creationId xmlns:a16="http://schemas.microsoft.com/office/drawing/2014/main" id="{FF22B882-78E2-7511-C600-2FE4D658A8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8789" y="1108703"/>
            <a:ext cx="1447122" cy="215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039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 descr="グラフィカル ユーザー インターフェイス&#10;&#10;中程度の精度で自動的に生成された説明">
            <a:extLst>
              <a:ext uri="{FF2B5EF4-FFF2-40B4-BE49-F238E27FC236}">
                <a16:creationId xmlns:a16="http://schemas.microsoft.com/office/drawing/2014/main" id="{7E036D86-1388-1217-3594-0FB23CFCA5C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D46F9EE-5F5B-E606-32E8-28E98C1DBFBD}"/>
              </a:ext>
            </a:extLst>
          </p:cNvPr>
          <p:cNvSpPr txBox="1"/>
          <p:nvPr userDrawn="1"/>
        </p:nvSpPr>
        <p:spPr>
          <a:xfrm>
            <a:off x="11882464" y="6490778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35894915-1B34-4D91-B302-0DD780FBD655}" type="slidenum">
              <a:rPr kumimoji="1" lang="ja-JP" altLang="en-US" sz="1200" smtClean="0">
                <a:solidFill>
                  <a:schemeClr val="tx1"/>
                </a:solidFill>
              </a:rPr>
              <a:pPr/>
              <a:t>‹#›</a:t>
            </a:fld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14" name="図 13" descr="アイコン&#10;&#10;中程度の精度で自動的に生成された説明">
            <a:extLst>
              <a:ext uri="{FF2B5EF4-FFF2-40B4-BE49-F238E27FC236}">
                <a16:creationId xmlns:a16="http://schemas.microsoft.com/office/drawing/2014/main" id="{FF22B882-78E2-7511-C600-2FE4D658A8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8789" y="1108703"/>
            <a:ext cx="1447122" cy="215618"/>
          </a:xfrm>
          <a:prstGeom prst="rect">
            <a:avLst/>
          </a:prstGeom>
        </p:spPr>
      </p:pic>
      <p:sp>
        <p:nvSpPr>
          <p:cNvPr id="7" name="タイトル 1"/>
          <p:cNvSpPr>
            <a:spLocks noGrp="1"/>
          </p:cNvSpPr>
          <p:nvPr>
            <p:ph type="title"/>
          </p:nvPr>
        </p:nvSpPr>
        <p:spPr>
          <a:xfrm>
            <a:off x="1685925" y="2619420"/>
            <a:ext cx="8163469" cy="1325563"/>
          </a:xfrm>
        </p:spPr>
        <p:txBody>
          <a:bodyPr>
            <a:noAutofit/>
          </a:bodyPr>
          <a:lstStyle>
            <a:lvl1pPr algn="ctr">
              <a:defRPr sz="4800" b="1">
                <a:solidFill>
                  <a:schemeClr val="tx2">
                    <a:lumMod val="90000"/>
                    <a:lumOff val="1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マスター タイトル</a:t>
            </a:r>
          </a:p>
        </p:txBody>
      </p:sp>
    </p:spTree>
    <p:extLst>
      <p:ext uri="{BB962C8B-B14F-4D97-AF65-F5344CB8AC3E}">
        <p14:creationId xmlns:p14="http://schemas.microsoft.com/office/powerpoint/2010/main" val="2660778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直角三角形 5">
            <a:extLst>
              <a:ext uri="{FF2B5EF4-FFF2-40B4-BE49-F238E27FC236}">
                <a16:creationId xmlns:a16="http://schemas.microsoft.com/office/drawing/2014/main" id="{C5995145-7A87-4C65-8D59-BD1094C30C57}"/>
              </a:ext>
            </a:extLst>
          </p:cNvPr>
          <p:cNvSpPr/>
          <p:nvPr userDrawn="1"/>
        </p:nvSpPr>
        <p:spPr>
          <a:xfrm flipH="1">
            <a:off x="11853308" y="5895948"/>
            <a:ext cx="336182" cy="962052"/>
          </a:xfrm>
          <a:prstGeom prst="rtTriangle">
            <a:avLst/>
          </a:prstGeom>
          <a:gradFill>
            <a:gsLst>
              <a:gs pos="0">
                <a:schemeClr val="tx2">
                  <a:lumMod val="90000"/>
                  <a:lumOff val="1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5400000" scaled="0"/>
          </a:gra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D46F9EE-5F5B-E606-32E8-28E98C1DBFBD}"/>
              </a:ext>
            </a:extLst>
          </p:cNvPr>
          <p:cNvSpPr txBox="1"/>
          <p:nvPr userDrawn="1"/>
        </p:nvSpPr>
        <p:spPr>
          <a:xfrm>
            <a:off x="11882464" y="6490778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35894915-1B34-4D91-B302-0DD780FBD655}" type="slidenum">
              <a:rPr kumimoji="1" lang="ja-JP" altLang="en-US" sz="1200" smtClean="0">
                <a:solidFill>
                  <a:schemeClr val="bg1"/>
                </a:solidFill>
              </a:rPr>
              <a:pPr algn="ctr"/>
              <a:t>‹#›</a:t>
            </a:fld>
            <a:endParaRPr kumimoji="1" lang="ja-JP" altLang="en-US" sz="1200" dirty="0">
              <a:solidFill>
                <a:schemeClr val="bg1"/>
              </a:solidFill>
            </a:endParaRPr>
          </a:p>
        </p:txBody>
      </p:sp>
      <p:sp>
        <p:nvSpPr>
          <p:cNvPr id="31" name="直角三角形 30">
            <a:extLst>
              <a:ext uri="{FF2B5EF4-FFF2-40B4-BE49-F238E27FC236}">
                <a16:creationId xmlns:a16="http://schemas.microsoft.com/office/drawing/2014/main" id="{D1A5EFC1-56C7-72F5-03F2-EE984BD09823}"/>
              </a:ext>
            </a:extLst>
          </p:cNvPr>
          <p:cNvSpPr/>
          <p:nvPr userDrawn="1"/>
        </p:nvSpPr>
        <p:spPr>
          <a:xfrm rot="10800000" flipH="1">
            <a:off x="352156" y="263868"/>
            <a:ext cx="202488" cy="579460"/>
          </a:xfrm>
          <a:prstGeom prst="rtTriangle">
            <a:avLst/>
          </a:prstGeom>
          <a:gradFill flip="none" rotWithShape="1">
            <a:gsLst>
              <a:gs pos="0">
                <a:schemeClr val="tx2">
                  <a:lumMod val="90000"/>
                  <a:lumOff val="1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27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2" name="グループ化 41">
            <a:extLst>
              <a:ext uri="{FF2B5EF4-FFF2-40B4-BE49-F238E27FC236}">
                <a16:creationId xmlns:a16="http://schemas.microsoft.com/office/drawing/2014/main" id="{0E44F6B5-9D33-2A98-643B-7B353912755B}"/>
              </a:ext>
            </a:extLst>
          </p:cNvPr>
          <p:cNvGrpSpPr/>
          <p:nvPr userDrawn="1"/>
        </p:nvGrpSpPr>
        <p:grpSpPr>
          <a:xfrm>
            <a:off x="9151581" y="6568644"/>
            <a:ext cx="2606046" cy="205710"/>
            <a:chOff x="8928119" y="6540069"/>
            <a:chExt cx="2606046" cy="205710"/>
          </a:xfrm>
        </p:grpSpPr>
        <p:pic>
          <p:nvPicPr>
            <p:cNvPr id="43" name="図 42" descr="アイコン&#10;&#10;中程度の精度で自動的に生成された説明">
              <a:extLst>
                <a:ext uri="{FF2B5EF4-FFF2-40B4-BE49-F238E27FC236}">
                  <a16:creationId xmlns:a16="http://schemas.microsoft.com/office/drawing/2014/main" id="{4C2E109A-9518-8BBA-83F7-F71BB09B5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64158" y="6540069"/>
              <a:ext cx="1070007" cy="159428"/>
            </a:xfrm>
            <a:prstGeom prst="rect">
              <a:avLst/>
            </a:prstGeom>
          </p:spPr>
        </p:pic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372138D9-D1E2-CAC7-0C81-27B2B5459169}"/>
                </a:ext>
              </a:extLst>
            </p:cNvPr>
            <p:cNvSpPr txBox="1"/>
            <p:nvPr/>
          </p:nvSpPr>
          <p:spPr>
            <a:xfrm>
              <a:off x="8928119" y="6545724"/>
              <a:ext cx="139814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7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Copyright(C)</a:t>
              </a:r>
              <a:r>
                <a:rPr kumimoji="1" lang="en-US" altLang="ja-JP" sz="7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TechVan</a:t>
              </a:r>
              <a:r>
                <a:rPr kumimoji="1" lang="en-US" altLang="ja-JP" sz="7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co., Ltd.</a:t>
              </a:r>
              <a:endParaRPr kumimoji="1" lang="ja-JP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5" name="タイトル 1"/>
          <p:cNvSpPr>
            <a:spLocks noGrp="1"/>
          </p:cNvSpPr>
          <p:nvPr>
            <p:ph type="title"/>
          </p:nvPr>
        </p:nvSpPr>
        <p:spPr>
          <a:xfrm>
            <a:off x="557351" y="263868"/>
            <a:ext cx="10515600" cy="579460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tx2">
                    <a:lumMod val="90000"/>
                    <a:lumOff val="1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10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54644" y="1064623"/>
            <a:ext cx="10518307" cy="537536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922530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8896A-F36F-408D-BD52-6518A9D4976B}" type="datetime1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‹#›</a:t>
            </a:r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94915-1B34-4D91-B302-0DD780FBD655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0B4DDD1-9778-799B-0E24-FAAB7AE9728A}"/>
              </a:ext>
            </a:extLst>
          </p:cNvPr>
          <p:cNvSpPr>
            <a:spLocks/>
          </p:cNvSpPr>
          <p:nvPr userDrawn="1"/>
        </p:nvSpPr>
        <p:spPr>
          <a:xfrm>
            <a:off x="0" y="1"/>
            <a:ext cx="12191999" cy="6858000"/>
          </a:xfrm>
          <a:prstGeom prst="rect">
            <a:avLst/>
          </a:prstGeom>
          <a:gradFill flip="none" rotWithShape="1">
            <a:gsLst>
              <a:gs pos="0">
                <a:srgbClr val="215F99"/>
              </a:gs>
              <a:gs pos="100000">
                <a:srgbClr val="203A66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直角三角形 6">
            <a:extLst>
              <a:ext uri="{FF2B5EF4-FFF2-40B4-BE49-F238E27FC236}">
                <a16:creationId xmlns:a16="http://schemas.microsoft.com/office/drawing/2014/main" id="{51040AAF-76B3-A1BC-FA10-5328841EA540}"/>
              </a:ext>
            </a:extLst>
          </p:cNvPr>
          <p:cNvSpPr/>
          <p:nvPr userDrawn="1"/>
        </p:nvSpPr>
        <p:spPr>
          <a:xfrm flipH="1">
            <a:off x="9802343" y="-2"/>
            <a:ext cx="2396478" cy="6858001"/>
          </a:xfrm>
          <a:prstGeom prst="rtTriangle">
            <a:avLst/>
          </a:prstGeom>
          <a:gradFill flip="none" rotWithShape="1">
            <a:gsLst>
              <a:gs pos="0">
                <a:schemeClr val="bg1">
                  <a:lumMod val="100000"/>
                  <a:alpha val="85000"/>
                </a:schemeClr>
              </a:gs>
              <a:gs pos="100000">
                <a:schemeClr val="bg1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 descr="アイコン&#10;&#10;中程度の精度で自動的に生成された説明">
            <a:extLst>
              <a:ext uri="{FF2B5EF4-FFF2-40B4-BE49-F238E27FC236}">
                <a16:creationId xmlns:a16="http://schemas.microsoft.com/office/drawing/2014/main" id="{D451F1FB-F3B4-1D97-95B2-ACDA034DF3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7048" y="6342631"/>
            <a:ext cx="1387084" cy="206671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AFD890B-8035-34CA-E374-CB6FAEAFE595}"/>
              </a:ext>
            </a:extLst>
          </p:cNvPr>
          <p:cNvSpPr>
            <a:spLocks/>
          </p:cNvSpPr>
          <p:nvPr userDrawn="1"/>
        </p:nvSpPr>
        <p:spPr>
          <a:xfrm>
            <a:off x="859369" y="867678"/>
            <a:ext cx="10477325" cy="5110270"/>
          </a:xfrm>
          <a:prstGeom prst="rect">
            <a:avLst/>
          </a:prstGeom>
          <a:gradFill>
            <a:gsLst>
              <a:gs pos="0">
                <a:srgbClr val="215F99"/>
              </a:gs>
              <a:gs pos="100000">
                <a:srgbClr val="203A66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203200" dir="2700000" algn="t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直角三角形 9">
            <a:extLst>
              <a:ext uri="{FF2B5EF4-FFF2-40B4-BE49-F238E27FC236}">
                <a16:creationId xmlns:a16="http://schemas.microsoft.com/office/drawing/2014/main" id="{8B70CAB1-C63E-1DEB-F3CF-A7F7CD38AAD7}"/>
              </a:ext>
            </a:extLst>
          </p:cNvPr>
          <p:cNvSpPr/>
          <p:nvPr userDrawn="1"/>
        </p:nvSpPr>
        <p:spPr>
          <a:xfrm rot="10800000" flipV="1">
            <a:off x="9559694" y="867676"/>
            <a:ext cx="1785746" cy="5110270"/>
          </a:xfrm>
          <a:prstGeom prst="rtTriangle">
            <a:avLst/>
          </a:prstGeom>
          <a:gradFill flip="none" rotWithShape="1">
            <a:gsLst>
              <a:gs pos="0">
                <a:schemeClr val="bg1">
                  <a:lumMod val="100000"/>
                  <a:alpha val="85000"/>
                </a:schemeClr>
              </a:gs>
              <a:gs pos="100000">
                <a:schemeClr val="bg1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1434072" y="2776538"/>
            <a:ext cx="8982976" cy="646272"/>
          </a:xfrm>
        </p:spPr>
        <p:txBody>
          <a:bodyPr>
            <a:noAutofit/>
          </a:bodyPr>
          <a:lstStyle>
            <a:lvl1pPr>
              <a:defRPr sz="480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章 タイトルの書式設定</a:t>
            </a: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05D1F370-AD5F-2E12-5C70-FAC4AD404953}"/>
              </a:ext>
            </a:extLst>
          </p:cNvPr>
          <p:cNvCxnSpPr/>
          <p:nvPr userDrawn="1"/>
        </p:nvCxnSpPr>
        <p:spPr>
          <a:xfrm>
            <a:off x="1295550" y="2776538"/>
            <a:ext cx="0" cy="648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61809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8896A-F36F-408D-BD52-6518A9D4976B}" type="datetime1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‹#›</a:t>
            </a:r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94915-1B34-4D91-B302-0DD780FBD655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0B4DDD1-9778-799B-0E24-FAAB7AE9728A}"/>
              </a:ext>
            </a:extLst>
          </p:cNvPr>
          <p:cNvSpPr>
            <a:spLocks/>
          </p:cNvSpPr>
          <p:nvPr userDrawn="1"/>
        </p:nvSpPr>
        <p:spPr>
          <a:xfrm>
            <a:off x="0" y="1"/>
            <a:ext cx="12191999" cy="6858000"/>
          </a:xfrm>
          <a:prstGeom prst="rect">
            <a:avLst/>
          </a:prstGeom>
          <a:gradFill flip="none" rotWithShape="1">
            <a:gsLst>
              <a:gs pos="0">
                <a:srgbClr val="215F99"/>
              </a:gs>
              <a:gs pos="100000">
                <a:srgbClr val="203A66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直角三角形 6">
            <a:extLst>
              <a:ext uri="{FF2B5EF4-FFF2-40B4-BE49-F238E27FC236}">
                <a16:creationId xmlns:a16="http://schemas.microsoft.com/office/drawing/2014/main" id="{51040AAF-76B3-A1BC-FA10-5328841EA540}"/>
              </a:ext>
            </a:extLst>
          </p:cNvPr>
          <p:cNvSpPr/>
          <p:nvPr userDrawn="1"/>
        </p:nvSpPr>
        <p:spPr>
          <a:xfrm flipH="1">
            <a:off x="9802343" y="-2"/>
            <a:ext cx="2396478" cy="6858001"/>
          </a:xfrm>
          <a:prstGeom prst="rtTriangle">
            <a:avLst/>
          </a:prstGeom>
          <a:gradFill flip="none" rotWithShape="1">
            <a:gsLst>
              <a:gs pos="0">
                <a:schemeClr val="bg1">
                  <a:lumMod val="100000"/>
                  <a:alpha val="85000"/>
                </a:schemeClr>
              </a:gs>
              <a:gs pos="100000">
                <a:schemeClr val="bg1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 descr="アイコン&#10;&#10;中程度の精度で自動的に生成された説明">
            <a:extLst>
              <a:ext uri="{FF2B5EF4-FFF2-40B4-BE49-F238E27FC236}">
                <a16:creationId xmlns:a16="http://schemas.microsoft.com/office/drawing/2014/main" id="{D451F1FB-F3B4-1D97-95B2-ACDA034DF3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7048" y="6342631"/>
            <a:ext cx="1387084" cy="206671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AFD890B-8035-34CA-E374-CB6FAEAFE595}"/>
              </a:ext>
            </a:extLst>
          </p:cNvPr>
          <p:cNvSpPr>
            <a:spLocks/>
          </p:cNvSpPr>
          <p:nvPr userDrawn="1"/>
        </p:nvSpPr>
        <p:spPr>
          <a:xfrm>
            <a:off x="859369" y="867678"/>
            <a:ext cx="10477325" cy="5110270"/>
          </a:xfrm>
          <a:prstGeom prst="rect">
            <a:avLst/>
          </a:prstGeom>
          <a:gradFill>
            <a:gsLst>
              <a:gs pos="0">
                <a:srgbClr val="215F99"/>
              </a:gs>
              <a:gs pos="100000">
                <a:srgbClr val="203A66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203200" dir="2700000" algn="t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直角三角形 9">
            <a:extLst>
              <a:ext uri="{FF2B5EF4-FFF2-40B4-BE49-F238E27FC236}">
                <a16:creationId xmlns:a16="http://schemas.microsoft.com/office/drawing/2014/main" id="{8B70CAB1-C63E-1DEB-F3CF-A7F7CD38AAD7}"/>
              </a:ext>
            </a:extLst>
          </p:cNvPr>
          <p:cNvSpPr/>
          <p:nvPr userDrawn="1"/>
        </p:nvSpPr>
        <p:spPr>
          <a:xfrm rot="10800000" flipV="1">
            <a:off x="9559694" y="867676"/>
            <a:ext cx="1785746" cy="5110270"/>
          </a:xfrm>
          <a:prstGeom prst="rtTriangle">
            <a:avLst/>
          </a:prstGeom>
          <a:gradFill flip="none" rotWithShape="1">
            <a:gsLst>
              <a:gs pos="0">
                <a:schemeClr val="bg1">
                  <a:lumMod val="100000"/>
                  <a:alpha val="85000"/>
                </a:schemeClr>
              </a:gs>
              <a:gs pos="100000">
                <a:schemeClr val="bg1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1434072" y="2083359"/>
            <a:ext cx="8982976" cy="1339451"/>
          </a:xfrm>
        </p:spPr>
        <p:txBody>
          <a:bodyPr>
            <a:noAutofit/>
          </a:bodyPr>
          <a:lstStyle>
            <a:lvl1pPr>
              <a:defRPr sz="480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章 タイトルの</a:t>
            </a:r>
            <a:br>
              <a:rPr kumimoji="1" lang="en-US" altLang="ja-JP" dirty="0"/>
            </a:br>
            <a:r>
              <a:rPr kumimoji="1" lang="ja-JP" altLang="en-US" dirty="0"/>
              <a:t>書式設定</a:t>
            </a: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05D1F370-AD5F-2E12-5C70-FAC4AD404953}"/>
              </a:ext>
            </a:extLst>
          </p:cNvPr>
          <p:cNvCxnSpPr/>
          <p:nvPr userDrawn="1"/>
        </p:nvCxnSpPr>
        <p:spPr>
          <a:xfrm>
            <a:off x="1295550" y="2083359"/>
            <a:ext cx="0" cy="12697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0626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最終ページ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42" b="7910"/>
          <a:stretch/>
        </p:blipFill>
        <p:spPr>
          <a:xfrm>
            <a:off x="0" y="0"/>
            <a:ext cx="12192927" cy="6894095"/>
          </a:xfrm>
          <a:prstGeom prst="rect">
            <a:avLst/>
          </a:prstGeom>
        </p:spPr>
      </p:pic>
      <p:sp>
        <p:nvSpPr>
          <p:cNvPr id="17" name="正方形/長方形 16"/>
          <p:cNvSpPr/>
          <p:nvPr userDrawn="1"/>
        </p:nvSpPr>
        <p:spPr>
          <a:xfrm>
            <a:off x="6385502" y="5676349"/>
            <a:ext cx="4917989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ja-JP" altLang="en-US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東京都港区海岸</a:t>
            </a:r>
            <a:r>
              <a:rPr lang="en-US" altLang="ja-JP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3-20-20</a:t>
            </a:r>
            <a:r>
              <a:rPr lang="ja-JP" altLang="en-US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 ヨコソーレインボータワー</a:t>
            </a:r>
            <a:r>
              <a:rPr lang="en-US" altLang="ja-JP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4</a:t>
            </a:r>
            <a:r>
              <a:rPr lang="ja-JP" altLang="en-US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階</a:t>
            </a:r>
            <a:endParaRPr lang="en-US" altLang="ja-JP" sz="1400" dirty="0">
              <a:ln>
                <a:solidFill>
                  <a:schemeClr val="bg1"/>
                </a:solidFill>
              </a:ln>
              <a:solidFill>
                <a:schemeClr val="bg1"/>
              </a:solidFill>
              <a:latin typeface="+mn-ea"/>
              <a:ea typeface="+mn-ea"/>
              <a:cs typeface="メイリオ" pitchFamily="50" charset="-128"/>
            </a:endParaRPr>
          </a:p>
          <a:p>
            <a:pPr algn="ctr">
              <a:defRPr/>
            </a:pPr>
            <a:r>
              <a:rPr lang="en-US" altLang="ja-JP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TEL:03-5418-8500(</a:t>
            </a:r>
            <a:r>
              <a:rPr lang="ja-JP" altLang="en-US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代表</a:t>
            </a:r>
            <a:r>
              <a:rPr lang="en-US" altLang="ja-JP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)</a:t>
            </a:r>
          </a:p>
          <a:p>
            <a:pPr algn="ctr">
              <a:defRPr/>
            </a:pPr>
            <a:r>
              <a:rPr lang="en-US" altLang="ja-JP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https://www.techvan.co.jp/</a:t>
            </a:r>
          </a:p>
        </p:txBody>
      </p:sp>
      <p:pic>
        <p:nvPicPr>
          <p:cNvPr id="18" name="図 1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769" y="240790"/>
            <a:ext cx="1337454" cy="198000"/>
          </a:xfrm>
          <a:prstGeom prst="rect">
            <a:avLst/>
          </a:prstGeom>
        </p:spPr>
      </p:pic>
      <p:sp>
        <p:nvSpPr>
          <p:cNvPr id="8" name="正方形/長方形 7"/>
          <p:cNvSpPr/>
          <p:nvPr userDrawn="1"/>
        </p:nvSpPr>
        <p:spPr>
          <a:xfrm>
            <a:off x="0" y="2852074"/>
            <a:ext cx="12192000" cy="1015663"/>
          </a:xfrm>
          <a:prstGeom prst="rect">
            <a:avLst/>
          </a:prstGeom>
          <a:solidFill>
            <a:srgbClr val="0070C0">
              <a:alpha val="39000"/>
            </a:srgbClr>
          </a:solidFill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altLang="ja-JP" sz="6000" b="1" dirty="0"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Thank you</a:t>
            </a:r>
          </a:p>
        </p:txBody>
      </p:sp>
      <p:sp>
        <p:nvSpPr>
          <p:cNvPr id="3" name="正方形/長方形 2"/>
          <p:cNvSpPr/>
          <p:nvPr userDrawn="1"/>
        </p:nvSpPr>
        <p:spPr>
          <a:xfrm>
            <a:off x="7828833" y="5292155"/>
            <a:ext cx="2031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ja-JP" altLang="en-US" sz="18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lt"/>
                <a:ea typeface="+mj-ea"/>
                <a:cs typeface="メイリオ" pitchFamily="50" charset="-128"/>
              </a:rPr>
              <a:t>テクバン株式会社</a:t>
            </a:r>
            <a:endParaRPr lang="en-US" altLang="ja-JP" sz="1800" dirty="0">
              <a:ln>
                <a:solidFill>
                  <a:schemeClr val="bg1"/>
                </a:solidFill>
              </a:ln>
              <a:solidFill>
                <a:schemeClr val="bg1"/>
              </a:solidFill>
              <a:latin typeface="+mn-lt"/>
              <a:ea typeface="+mj-ea"/>
              <a:cs typeface="メイリオ" pitchFamily="50" charset="-128"/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 userDrawn="1"/>
        </p:nvSpPr>
        <p:spPr bwMode="auto">
          <a:xfrm>
            <a:off x="0" y="6650284"/>
            <a:ext cx="12191999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9pPr>
          </a:lstStyle>
          <a:p>
            <a:pPr algn="ctr" eaLnBrk="1" hangingPunct="1">
              <a:defRPr/>
            </a:pPr>
            <a:r>
              <a:rPr lang="en-US" altLang="ja-JP" sz="900" b="0">
                <a:solidFill>
                  <a:schemeClr val="bg1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Copyright(C) TechVan Co,Ltd</a:t>
            </a:r>
            <a:endParaRPr lang="en-US" altLang="ja-JP" sz="900" b="0" dirty="0">
              <a:solidFill>
                <a:schemeClr val="bg1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57006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CHVAN 本文（ラベル付き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直角三角形 5"/>
          <p:cNvSpPr/>
          <p:nvPr userDrawn="1"/>
        </p:nvSpPr>
        <p:spPr>
          <a:xfrm flipH="1">
            <a:off x="11853308" y="5895948"/>
            <a:ext cx="336182" cy="962052"/>
          </a:xfrm>
          <a:prstGeom prst="rtTriangle">
            <a:avLst/>
          </a:prstGeom>
          <a:gradFill>
            <a:gsLst>
              <a:gs pos="0">
                <a:schemeClr val="tx2">
                  <a:lumMod val="90000"/>
                  <a:lumOff val="1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5400000" scaled="0"/>
          </a:gra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/>
          <p:cNvSpPr txBox="1"/>
          <p:nvPr userDrawn="1"/>
        </p:nvSpPr>
        <p:spPr>
          <a:xfrm>
            <a:off x="11882464" y="6490778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35894915-1B34-4D91-B302-0DD780FBD655}" type="slidenum">
              <a:rPr kumimoji="1" lang="ja-JP" altLang="en-US" sz="1200" smtClean="0">
                <a:solidFill>
                  <a:schemeClr val="bg1"/>
                </a:solidFill>
              </a:rPr>
              <a:pPr algn="ctr"/>
              <a:t>‹#›</a:t>
            </a:fld>
            <a:endParaRPr kumimoji="1" lang="ja-JP" altLang="en-US" sz="1200" dirty="0">
              <a:solidFill>
                <a:schemeClr val="bg1"/>
              </a:solidFill>
            </a:endParaRPr>
          </a:p>
        </p:txBody>
      </p:sp>
      <p:grpSp>
        <p:nvGrpSpPr>
          <p:cNvPr id="42" name="グループ化 41"/>
          <p:cNvGrpSpPr/>
          <p:nvPr userDrawn="1"/>
        </p:nvGrpSpPr>
        <p:grpSpPr>
          <a:xfrm>
            <a:off x="9151581" y="6568644"/>
            <a:ext cx="2606046" cy="205710"/>
            <a:chOff x="8928119" y="6540069"/>
            <a:chExt cx="2606046" cy="205710"/>
          </a:xfrm>
        </p:grpSpPr>
        <p:pic>
          <p:nvPicPr>
            <p:cNvPr id="43" name="図 42" descr="アイコン&#10;&#10;中程度の精度で自動的に生成された説明"/>
            <p:cNvPicPr>
              <a:picLocks noChangeAspect="1"/>
            </p:cNvPicPr>
            <p:nvPr/>
          </p:nvPicPr>
          <p:blipFill>
            <a:blip r:embed="rId1" cstate="hqprint"/>
            <a:stretch>
              <a:fillRect/>
            </a:stretch>
          </p:blipFill>
          <p:spPr>
            <a:xfrm>
              <a:off x="10464158" y="6540069"/>
              <a:ext cx="1070007" cy="159428"/>
            </a:xfrm>
            <a:prstGeom prst="rect">
              <a:avLst/>
            </a:prstGeom>
          </p:spPr>
        </p:pic>
        <p:sp>
          <p:nvSpPr>
            <p:cNvPr id="44" name="テキスト ボックス 43"/>
            <p:cNvSpPr txBox="1"/>
            <p:nvPr/>
          </p:nvSpPr>
          <p:spPr>
            <a:xfrm>
              <a:off x="8928119" y="6545724"/>
              <a:ext cx="139814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7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Copyright(C)</a:t>
              </a:r>
              <a:r>
                <a:rPr kumimoji="1" lang="en-US" altLang="ja-JP" sz="7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TechVan</a:t>
              </a:r>
              <a:r>
                <a:rPr kumimoji="1" lang="en-US" altLang="ja-JP" sz="7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co., Ltd.</a:t>
              </a:r>
              <a:endParaRPr kumimoji="1" lang="ja-JP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5" name="タイトル 1"/>
          <p:cNvSpPr>
            <a:spLocks noGrp="1"/>
          </p:cNvSpPr>
          <p:nvPr>
            <p:ph type="title"/>
          </p:nvPr>
        </p:nvSpPr>
        <p:spPr>
          <a:xfrm>
            <a:off x="502920" y="512064"/>
            <a:ext cx="11183112" cy="502920"/>
          </a:xfrm>
        </p:spPr>
        <p:txBody>
          <a:bodyPr lIns="0" rIns="0" anchor="ctr">
            <a:normAutofit/>
          </a:bodyPr>
          <a:lstStyle>
            <a:lvl1pPr>
              <a:defRPr sz="2400" b="1">
                <a:solidFill>
                  <a:schemeClr val="tx2">
                    <a:lumMod val="90000"/>
                    <a:lumOff val="1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69CFA4B-8E29-9FDD-9EED-011F58C68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7418B3-C53F-52BF-F5E3-0329B498D0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4FB7CAE-EC93-414B-C009-62040C998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B8896A-F36F-408D-BD52-6518A9D4976B}" type="datetime1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F722A2-6355-9E66-7702-E40B276C6A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kumimoji="1" lang="en-US" altLang="ja-JP"/>
              <a:t>‹#›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A58936-C906-7FC1-4F30-88C2D8D5B2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894915-1B34-4D91-B302-0DD780FBD6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4177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60" r:id="rId2"/>
    <p:sldLayoutId id="2147483663" r:id="rId3"/>
    <p:sldLayoutId id="2147483656" r:id="rId4"/>
    <p:sldLayoutId id="2147483661" r:id="rId5"/>
    <p:sldLayoutId id="2147483662" r:id="rId6"/>
    <p:sldLayoutId id="2147483658" r:id="rId7"/>
    <p:sldLayoutId id="2147483664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8961120" cy="1280160"/>
          </a:xfrm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sz="3350" b="1" lang="ja-JP" altLang="en-US">
                <a:solidFill>
                  <a:srgbClr val="194671"/>
                </a:solidFill>
                <a:latin typeface="游ゴシック"/>
                <a:ea typeface="游ゴシック"/>
                <a:cs typeface="游ゴシック"/>
              </a:rPr>
              <a:t>社内ヘルプデスク</a:t>
            </a:r>
          </a:p>
          <a:p>
            <a:pPr algn="ctr">
              <a:lnSpc>
                <a:spcPct val="100000"/>
              </a:lnSpc>
            </a:pPr>
            <a:r>
              <a:rPr sz="3350" b="1" lang="ja-JP" altLang="en-US">
                <a:solidFill>
                  <a:srgbClr val="194671"/>
                </a:solidFill>
                <a:latin typeface="游ゴシック"/>
                <a:ea typeface="游ゴシック"/>
                <a:cs typeface="游ゴシック"/>
              </a:rPr>
              <a:t>改善のご提案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343400" y="196596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36576" bIns="36576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400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提 案 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77639"/>
            <a:ext cx="89611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― 夜間帯の待ち時間を半分にする3つの施策 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794760" y="4572000"/>
            <a:ext cx="3017520" cy="0"/>
          </a:xfrm>
          <a:prstGeom prst="line">
            <a:avLst/>
          </a:prstGeom>
          <a:ln w="12700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4754880"/>
            <a:ext cx="89611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  <a:spcBef>
                <a:spcPts val="0"/>
              </a:spcBef>
            </a:pPr>
            <a:r>
              <a:rPr sz="125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2026年10月</a:t>
            </a:r>
          </a:p>
          <a:p>
            <a:pPr algn="ctr">
              <a:lnSpc>
                <a:spcPct val="140000"/>
              </a:lnSpc>
              <a:spcBef>
                <a:spcPts val="0"/>
              </a:spcBef>
            </a:pPr>
            <a:r>
              <a:rPr sz="125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情報システム部</a:t>
            </a:r>
          </a:p>
        </p:txBody>
      </p:sp>
      <p:sp>
        <p:nvSpPr>
          <p:cNvPr id="7" name="CONFIDENTIAL"/>
          <p:cNvSpPr/>
          <p:nvPr/>
        </p:nvSpPr>
        <p:spPr>
          <a:xfrm>
            <a:off x="822960" y="685800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本日の内容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AGENDA  -  目 次  -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22376" y="1481328"/>
            <a:ext cx="548640" cy="548640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FFFFFF"/>
                </a:solidFill>
                <a:latin typeface="Arial"/>
                <a:ea typeface="游ゴシック"/>
                <a:cs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335024"/>
            <a:ext cx="274320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現状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34840" y="1499616"/>
            <a:ext cx="0" cy="512063"/>
          </a:xfrm>
          <a:prstGeom prst="line">
            <a:avLst/>
          </a:prstGeom>
          <a:ln w="12700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09160" y="1335024"/>
            <a:ext cx="6760159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問い合わせの件数と対応時間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95728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22376" y="2578608"/>
            <a:ext cx="548640" cy="548640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FFFFFF"/>
                </a:solidFill>
                <a:latin typeface="Arial"/>
                <a:ea typeface="游ゴシック"/>
                <a:cs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432304"/>
            <a:ext cx="274320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原因の分析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34840" y="2596896"/>
            <a:ext cx="0" cy="512064"/>
          </a:xfrm>
          <a:prstGeom prst="line">
            <a:avLst/>
          </a:prstGeom>
          <a:ln w="12700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709160" y="2432304"/>
            <a:ext cx="6760159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対応が長引く理由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493008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3675888"/>
            <a:ext cx="548640" cy="548640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FFFFFF"/>
                </a:solidFill>
                <a:latin typeface="Arial"/>
                <a:ea typeface="游ゴシック"/>
                <a:cs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529584"/>
            <a:ext cx="274320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改善のご提案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34840" y="3694176"/>
            <a:ext cx="0" cy="512064"/>
          </a:xfrm>
          <a:prstGeom prst="line">
            <a:avLst/>
          </a:prstGeom>
          <a:ln w="12700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709160" y="3529584"/>
            <a:ext cx="6760159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施策・日程・体制・費用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90288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2376" y="4773168"/>
            <a:ext cx="548640" cy="548640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FFFFFF"/>
                </a:solidFill>
                <a:latin typeface="Arial"/>
                <a:ea typeface="游ゴシック"/>
                <a:cs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626864"/>
            <a:ext cx="274320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次のアクション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434840" y="4791456"/>
            <a:ext cx="0" cy="512064"/>
          </a:xfrm>
          <a:prstGeom prst="line">
            <a:avLst/>
          </a:prstGeom>
          <a:ln w="12700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09160" y="4626864"/>
            <a:ext cx="6760159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決めていただきたいこと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マーカー"/>
          <p:cNvSpPr/>
          <p:nvPr/>
        </p:nvSpPr>
        <p:spPr>
          <a:xfrm>
            <a:off x="4741291" y="836081"/>
            <a:ext cx="671830" cy="72557"/>
          </a:xfrm>
          <a:prstGeom prst="roundRect">
            <a:avLst>
              <a:gd name="adj" fmla="val 50000"/>
            </a:avLst>
          </a:prstGeom>
          <a:solidFill>
            <a:srgbClr val="C9D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3つの施策で、夜間の待ち時間を</a:t>
            </a:r>
            <a:r>
              <a:rPr sz="2300" b="1" lang="ja-JP" altLang="en-US">
                <a:solidFill>
                  <a:srgbClr val="2E75B6"/>
                </a:solidFill>
                <a:latin typeface="游ゴシック"/>
                <a:ea typeface="游ゴシック"/>
                <a:cs typeface="游ゴシック"/>
              </a:rPr>
              <a:t>半分</a:t>
            </a: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に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SUMMARY  -  要 約  -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11185855" cy="1250594"/>
          </a:xfrm>
          <a:prstGeom prst="roundRect">
            <a:avLst>
              <a:gd name="adj" fmla="val 4387"/>
            </a:avLst>
          </a:prstGeom>
          <a:solidFill>
            <a:srgbClr val="EFF4FA"/>
          </a:solidFill>
          <a:ln w="12700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9153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結論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71600"/>
            <a:ext cx="9448495" cy="110429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2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手順の一本化・よくある質問の追加・夜間当番の増員で、夜間の平均待ち時間を48分 から24分 に短縮します。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05074"/>
            <a:ext cx="3557930" cy="2119396"/>
          </a:xfrm>
          <a:prstGeom prst="roundRect">
            <a:avLst>
              <a:gd name="adj" fmla="val 2588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22376" y="2987954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87954"/>
            <a:ext cx="262524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85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原因は夜間の人手と手順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6882" y="2805074"/>
            <a:ext cx="3557930" cy="2119396"/>
          </a:xfrm>
          <a:prstGeom prst="roundRect">
            <a:avLst>
              <a:gd name="adj" fmla="val 2588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36338" y="2987954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978" y="2987954"/>
            <a:ext cx="262524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効果の大きい順に着手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0844" y="2805074"/>
            <a:ext cx="3557930" cy="2119396"/>
          </a:xfrm>
          <a:prstGeom prst="roundRect">
            <a:avLst>
              <a:gd name="adj" fmla="val 2588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50300" y="2987954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8940" y="2987954"/>
            <a:ext cx="262524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初期費用は480万円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3573170"/>
            <a:ext cx="3119018" cy="11867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夜間は担当者2名で、製品ごとの手順書を行き来しています。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338" y="3573170"/>
            <a:ext cx="3119018" cy="11867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費用が小さく効果が大きい施策から、11月に始めます。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0300" y="3573170"/>
            <a:ext cx="3119018" cy="11867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年間の運用費は120万円。残業代の削減で2年で回収できます。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651760"/>
            <a:ext cx="6858000" cy="822960"/>
          </a:xfrm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sz="4000" b="1" lang="ja-JP" altLang="en-US">
                <a:solidFill>
                  <a:srgbClr val="194671"/>
                </a:solidFill>
                <a:latin typeface="游ゴシック"/>
                <a:ea typeface="游ゴシック"/>
                <a:cs typeface="游ゴシック"/>
              </a:rPr>
              <a:t>01　現状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2044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問い合わせは夜間帯だけが増えている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0233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0" spc="200" lang="ja-JP" altLang="en-US">
                <a:solidFill>
                  <a:srgbClr val="5F6F84"/>
                </a:solidFill>
                <a:latin typeface="Arial"/>
                <a:ea typeface="游ゴシック"/>
                <a:cs typeface="Arial"/>
              </a:rPr>
              <a:t>-  N o w  -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マーカー"/>
          <p:cNvSpPr/>
          <p:nvPr/>
        </p:nvSpPr>
        <p:spPr>
          <a:xfrm>
            <a:off x="4840605" y="836081"/>
            <a:ext cx="765302" cy="72557"/>
          </a:xfrm>
          <a:prstGeom prst="roundRect">
            <a:avLst>
              <a:gd name="adj" fmla="val 50000"/>
            </a:avLst>
          </a:prstGeom>
          <a:solidFill>
            <a:srgbClr val="C9D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件数は横ばい、夜間の待ち時間は</a:t>
            </a:r>
            <a:r>
              <a:rPr sz="2300" b="1" lang="ja-JP" altLang="en-US">
                <a:solidFill>
                  <a:srgbClr val="2E75B6"/>
                </a:solidFill>
                <a:latin typeface="游ゴシック"/>
                <a:ea typeface="游ゴシック"/>
                <a:cs typeface="游ゴシック"/>
              </a:rPr>
              <a:t>48分</a:t>
            </a: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に悪化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NOW  -  現 状  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42415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2026年4月〜9月の受付記録を集計しました。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72768"/>
            <a:ext cx="355793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502920" y="1572768"/>
            <a:ext cx="3557930" cy="402336"/>
          </a:xfrm>
          <a:prstGeom prst="round2SameRect">
            <a:avLst>
              <a:gd name="adj1" fmla="val 13636"/>
              <a:gd name="adj2" fmla="val 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問い合わせ件数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3283610" cy="18836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3,240</a:t>
            </a:r>
            <a:r>
              <a:rPr sz="20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19217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前年比+2.1%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6882" y="1572768"/>
            <a:ext cx="355793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316882" y="1572768"/>
            <a:ext cx="3557930" cy="402336"/>
          </a:xfrm>
          <a:prstGeom prst="round2SameRect">
            <a:avLst>
              <a:gd name="adj1" fmla="val 13636"/>
              <a:gd name="adj2" fmla="val 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夜間の平均待ち時間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4042" y="2020824"/>
            <a:ext cx="3283610" cy="18836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48</a:t>
            </a:r>
            <a:r>
              <a:rPr sz="20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9762" y="3931920"/>
            <a:ext cx="319217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日中は12分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0844" y="1572768"/>
            <a:ext cx="355793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130844" y="1572768"/>
            <a:ext cx="3557930" cy="402336"/>
          </a:xfrm>
          <a:prstGeom prst="round2SameRect">
            <a:avLst>
              <a:gd name="adj1" fmla="val 13636"/>
              <a:gd name="adj2" fmla="val 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満足度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8004" y="2020824"/>
            <a:ext cx="3283610" cy="18836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4.1</a:t>
            </a:r>
            <a:r>
              <a:rPr sz="20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3724" y="3931920"/>
            <a:ext cx="319217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5点満点のアンケート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マーカー"/>
          <p:cNvSpPr/>
          <p:nvPr/>
        </p:nvSpPr>
        <p:spPr>
          <a:xfrm>
            <a:off x="4256405" y="836081"/>
            <a:ext cx="858774" cy="72557"/>
          </a:xfrm>
          <a:prstGeom prst="roundRect">
            <a:avLst>
              <a:gd name="adj" fmla="val 50000"/>
            </a:avLst>
          </a:prstGeom>
          <a:solidFill>
            <a:srgbClr val="C9D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夜間の問い合わせは、半年で</a:t>
            </a:r>
            <a:r>
              <a:rPr sz="2300" b="1" lang="ja-JP" altLang="en-US">
                <a:solidFill>
                  <a:srgbClr val="2E75B6"/>
                </a:solidFill>
                <a:latin typeface="游ゴシック"/>
                <a:ea typeface="游ゴシック"/>
                <a:cs typeface="游ゴシック"/>
              </a:rPr>
              <a:t>1.5倍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NOW  -  現 状  -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7371892" cy="4965192"/>
          </a:xfrm>
          <a:prstGeom prst="roundRect">
            <a:avLst>
              <a:gd name="adj" fmla="val 1104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1463039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（単位：件）</a:t>
            </a:r>
          </a:p>
        </p:txBody>
      </p:sp>
      <p:graphicFrame>
        <p:nvGraphicFramePr>
          <p:cNvPr id="8" name="Chart 7" descr="縦棒グラフ。夜間の問い合わせは、半年で 1.5倍。日中：4月 420件、5月 410件、6月 430件、7月 415件、8月 405件、9月 420件／夜間：4月 120件、5月 130件、6月 150件、7月 160件、8月 170件、9月 180件"/>
          <p:cNvGraphicFramePr>
            <a:graphicFrameLocks noGrp="1"/>
          </p:cNvGraphicFramePr>
          <p:nvPr/>
        </p:nvGraphicFramePr>
        <p:xfrm>
          <a:off x="704088" y="1737360"/>
          <a:ext cx="6969556" cy="43251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130844" y="1298448"/>
            <a:ext cx="3557930" cy="3391265"/>
          </a:xfrm>
          <a:prstGeom prst="roundRect">
            <a:avLst>
              <a:gd name="adj" fmla="val 1617"/>
            </a:avLst>
          </a:prstGeom>
          <a:solidFill>
            <a:srgbClr val="EFF4FA"/>
          </a:solidFill>
          <a:ln w="12700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0300" y="1481328"/>
            <a:ext cx="3119018" cy="350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読み取りのポイント</a:t>
            </a:r>
          </a:p>
        </p:txBody>
      </p:sp>
      <p:sp>
        <p:nvSpPr>
          <p:cNvPr id="11" name="Oval 10"/>
          <p:cNvSpPr/>
          <p:nvPr/>
        </p:nvSpPr>
        <p:spPr>
          <a:xfrm>
            <a:off x="8350300" y="2033015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8940" y="2085594"/>
            <a:ext cx="2570378" cy="717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夜間は半年で1.5倍、日中はほぼ横ばい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50300" y="3224204"/>
            <a:ext cx="3119019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8350300" y="3681404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8940" y="3733982"/>
            <a:ext cx="2570378" cy="717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夜間の増加分の多くはアカウント関連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最も多いのはアカウント関連、全体の約3割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NOW  -  現 状  -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98448"/>
          <a:ext cx="11185854" cy="319049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38543"/>
                <a:gridCol w="980069"/>
                <a:gridCol w="980069"/>
                <a:gridCol w="1960138"/>
                <a:gridCol w="5227035"/>
              </a:tblGrid>
              <a:tr h="35585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分類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3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件数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3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前年比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3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平均解決時間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主な内容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アカウント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3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1,020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3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-12%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3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1.2時間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パスワード再設定、ロック解除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PC・周辺機器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3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780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3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+8%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3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3.4時間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故障、プリンター設定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業務システム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3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640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3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+15%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3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3.9時間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操作方法、権限の申請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ネットワーク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3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430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3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+4%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3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2.8時間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VPN接続、無線LAN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その他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3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370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3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-3%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3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1.6時間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ソフトの導入、問い合わせ先の確認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598670"/>
            <a:ext cx="11185855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※ 件数は4月〜9月の合計。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夜間の待ち時間が長い原因は、人手と手順の両方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NOW  -  現 状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733288"/>
            <a:ext cx="11185855" cy="530352"/>
          </a:xfrm>
          <a:prstGeom prst="roundRect">
            <a:avLst>
              <a:gd name="adj" fmla="val 10344"/>
            </a:avLst>
          </a:prstGeom>
          <a:solidFill>
            <a:srgbClr val="194671"/>
          </a:solidFill>
          <a:ln w="12700">
            <a:solidFill>
              <a:srgbClr val="1946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人手の追加と、手順・情報の整理を同時に進める必要があります。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290828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" y="1298448"/>
            <a:ext cx="10536631" cy="4053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夜間の当番は</a:t>
            </a:r>
            <a:r>
              <a:rPr sz="2000" b="1" lang="ja-JP" altLang="en-US">
                <a:solidFill>
                  <a:srgbClr val="2E75B6"/>
                </a:solidFill>
                <a:latin typeface="游ゴシック"/>
                <a:ea typeface="游ゴシック"/>
                <a:cs typeface="游ゴシック"/>
              </a:rPr>
              <a:t>2名</a:t>
            </a: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だけ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1703832"/>
            <a:ext cx="10536631" cy="7701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18〜21時の受付は日中の3割、担当者は日中の1割。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2373401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02920" y="2649245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2656865"/>
            <a:ext cx="10536631" cy="4053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手順書が製品ごとに分かれ、夜間向けの情報も無い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3062249"/>
            <a:ext cx="10536631" cy="7701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切り分けに平均42分。夜間に多いアカウント関連の質問も、まだ公開されていません。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利用者の声：夜は「待つしかない」と感じている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NOW  -  現 状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5464911" cy="1711451"/>
          </a:xfrm>
          <a:prstGeom prst="roundRect">
            <a:avLst>
              <a:gd name="adj" fmla="val 3205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5349" y="2982467"/>
            <a:ext cx="457748" cy="30175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161" y="0"/>
                </a:moveTo>
                <a:lnTo>
                  <a:pt x="1000" y="0"/>
                </a:lnTo>
                <a:lnTo>
                  <a:pt x="1000" y="90"/>
                </a:lnTo>
                <a:lnTo>
                  <a:pt x="0" y="1000"/>
                </a:lnTo>
                <a:lnTo>
                  <a:pt x="161" y="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5349" y="2982467"/>
            <a:ext cx="457748" cy="301751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61" y="90"/>
                </a:moveTo>
                <a:lnTo>
                  <a:pt x="0" y="1000"/>
                </a:lnTo>
                <a:lnTo>
                  <a:pt x="1000" y="90"/>
                </a:lnTo>
              </a:path>
            </a:pathLst>
          </a:custGeom>
          <a:noFill/>
          <a:ln w="12700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371600"/>
            <a:ext cx="914400" cy="548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48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1810512"/>
            <a:ext cx="4843119" cy="9506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0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夜に問い合わせると、返事が来るまで仕事が止まってしまいます。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393947"/>
            <a:ext cx="566928" cy="566928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2279" y="3467648"/>
            <a:ext cx="396849" cy="39684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90"/>
                </a:moveTo>
                <a:cubicBezTo>
                  <a:pt x="593" y="190"/>
                  <a:pt x="670" y="266"/>
                  <a:pt x="670" y="360"/>
                </a:cubicBezTo>
                <a:cubicBezTo>
                  <a:pt x="670" y="453"/>
                  <a:pt x="593" y="530"/>
                  <a:pt x="500" y="530"/>
                </a:cubicBezTo>
                <a:cubicBezTo>
                  <a:pt x="406" y="530"/>
                  <a:pt x="330" y="453"/>
                  <a:pt x="330" y="360"/>
                </a:cubicBezTo>
                <a:cubicBezTo>
                  <a:pt x="330" y="266"/>
                  <a:pt x="406" y="190"/>
                  <a:pt x="500" y="190"/>
                </a:cubicBezTo>
                <a:close/>
              </a:path>
              <a:path w="1000" h="1000">
                <a:moveTo>
                  <a:pt x="190" y="900"/>
                </a:moveTo>
                <a:cubicBezTo>
                  <a:pt x="190" y="700"/>
                  <a:pt x="330" y="590"/>
                  <a:pt x="500" y="590"/>
                </a:cubicBezTo>
                <a:cubicBezTo>
                  <a:pt x="670" y="590"/>
                  <a:pt x="810" y="700"/>
                  <a:pt x="810" y="9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90472" y="3412235"/>
            <a:ext cx="4477359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5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営業部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3695699"/>
            <a:ext cx="4477359" cy="2468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Aさん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3863" y="1298448"/>
            <a:ext cx="5464911" cy="1711451"/>
          </a:xfrm>
          <a:prstGeom prst="roundRect">
            <a:avLst>
              <a:gd name="adj" fmla="val 3205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36293" y="2982467"/>
            <a:ext cx="457748" cy="30175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161" y="0"/>
                </a:moveTo>
                <a:lnTo>
                  <a:pt x="1000" y="0"/>
                </a:lnTo>
                <a:lnTo>
                  <a:pt x="1000" y="90"/>
                </a:lnTo>
                <a:lnTo>
                  <a:pt x="0" y="1000"/>
                </a:lnTo>
                <a:lnTo>
                  <a:pt x="161" y="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36293" y="2982467"/>
            <a:ext cx="457748" cy="301751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61" y="90"/>
                </a:moveTo>
                <a:lnTo>
                  <a:pt x="0" y="1000"/>
                </a:lnTo>
                <a:lnTo>
                  <a:pt x="1000" y="90"/>
                </a:lnTo>
              </a:path>
            </a:pathLst>
          </a:custGeom>
          <a:noFill/>
          <a:ln w="12700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9895" y="1371600"/>
            <a:ext cx="914400" cy="548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48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4759" y="1810512"/>
            <a:ext cx="4843119" cy="9506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0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同じ質問を何度もしているので、ページで調べられると助かります。</a:t>
            </a:r>
          </a:p>
        </p:txBody>
      </p:sp>
      <p:sp>
        <p:nvSpPr>
          <p:cNvPr id="19" name="Oval 18"/>
          <p:cNvSpPr/>
          <p:nvPr/>
        </p:nvSpPr>
        <p:spPr>
          <a:xfrm>
            <a:off x="6498183" y="3393947"/>
            <a:ext cx="566928" cy="566928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222" y="3467648"/>
            <a:ext cx="396849" cy="39684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90"/>
                </a:moveTo>
                <a:cubicBezTo>
                  <a:pt x="593" y="190"/>
                  <a:pt x="670" y="266"/>
                  <a:pt x="670" y="360"/>
                </a:cubicBezTo>
                <a:cubicBezTo>
                  <a:pt x="670" y="453"/>
                  <a:pt x="593" y="530"/>
                  <a:pt x="500" y="530"/>
                </a:cubicBezTo>
                <a:cubicBezTo>
                  <a:pt x="406" y="530"/>
                  <a:pt x="330" y="453"/>
                  <a:pt x="330" y="360"/>
                </a:cubicBezTo>
                <a:cubicBezTo>
                  <a:pt x="330" y="266"/>
                  <a:pt x="406" y="190"/>
                  <a:pt x="500" y="190"/>
                </a:cubicBezTo>
                <a:close/>
              </a:path>
              <a:path w="1000" h="1000">
                <a:moveTo>
                  <a:pt x="190" y="900"/>
                </a:moveTo>
                <a:cubicBezTo>
                  <a:pt x="190" y="700"/>
                  <a:pt x="330" y="590"/>
                  <a:pt x="500" y="590"/>
                </a:cubicBezTo>
                <a:cubicBezTo>
                  <a:pt x="670" y="590"/>
                  <a:pt x="810" y="700"/>
                  <a:pt x="810" y="9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11415" y="3412235"/>
            <a:ext cx="4477359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5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開発部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11415" y="3695699"/>
            <a:ext cx="4477359" cy="2468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Bさん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651760"/>
            <a:ext cx="6858000" cy="822960"/>
          </a:xfrm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sz="4000" b="1" lang="ja-JP" altLang="en-US">
                <a:solidFill>
                  <a:srgbClr val="194671"/>
                </a:solidFill>
                <a:latin typeface="游ゴシック"/>
                <a:ea typeface="游ゴシック"/>
                <a:cs typeface="游ゴシック"/>
              </a:rPr>
              <a:t>02　原因の分析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2044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なぜ夜間だけ長くなるのか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0233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0" spc="200" lang="ja-JP" altLang="en-US">
                <a:solidFill>
                  <a:srgbClr val="5F6F84"/>
                </a:solidFill>
                <a:latin typeface="Arial"/>
                <a:ea typeface="游ゴシック"/>
                <a:cs typeface="Arial"/>
              </a:rPr>
              <a:t>-  W h y  -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待ち時間を延ばす原因は、受付・切り分け・回答の3か所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WHY  -  原 因 の 分 析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94760" y="1645920"/>
            <a:ext cx="2328778" cy="822960"/>
          </a:xfrm>
          <a:prstGeom prst="roundRect">
            <a:avLst>
              <a:gd name="adj" fmla="val 6666"/>
            </a:avLst>
          </a:prstGeom>
          <a:solidFill>
            <a:srgbClr val="DCE8F5"/>
          </a:solidFill>
          <a:ln w="12700">
            <a:solidFill>
              <a:srgbClr val="B9CDE2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59352" y="1645920"/>
            <a:ext cx="1999594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受付までが遅い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3618" y="1298448"/>
            <a:ext cx="4925156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9922" y="1298448"/>
            <a:ext cx="4632548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当番が2名だけ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3618" y="2103120"/>
            <a:ext cx="4925156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9922" y="2103120"/>
            <a:ext cx="4632548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電話とチャットが分かれている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23538" y="2057400"/>
            <a:ext cx="320040" cy="0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443578" y="1655064"/>
            <a:ext cx="0" cy="804672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443578" y="1655064"/>
            <a:ext cx="320040" cy="0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43578" y="2459736"/>
            <a:ext cx="320040" cy="0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794760" y="3383280"/>
            <a:ext cx="2328778" cy="822960"/>
          </a:xfrm>
          <a:prstGeom prst="roundRect">
            <a:avLst>
              <a:gd name="adj" fmla="val 6666"/>
            </a:avLst>
          </a:prstGeom>
          <a:solidFill>
            <a:srgbClr val="194671"/>
          </a:solidFill>
          <a:ln w="1270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59352" y="3383280"/>
            <a:ext cx="1999594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切り分けが遅い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3618" y="3035808"/>
            <a:ext cx="4925156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9922" y="3035808"/>
            <a:ext cx="4632548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手順書が製品ごとに分散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3618" y="3840480"/>
            <a:ext cx="4925156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9922" y="3840480"/>
            <a:ext cx="4632548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過去の対応が探しにくい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23538" y="3794760"/>
            <a:ext cx="320040" cy="0"/>
          </a:xfrm>
          <a:prstGeom prst="line">
            <a:avLst/>
          </a:prstGeom>
          <a:ln w="25400">
            <a:solidFill>
              <a:srgbClr val="1946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443578" y="3392424"/>
            <a:ext cx="0" cy="804672"/>
          </a:xfrm>
          <a:prstGeom prst="line">
            <a:avLst/>
          </a:prstGeom>
          <a:ln w="25400">
            <a:solidFill>
              <a:srgbClr val="1946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443578" y="3392424"/>
            <a:ext cx="320040" cy="0"/>
          </a:xfrm>
          <a:prstGeom prst="line">
            <a:avLst/>
          </a:prstGeom>
          <a:ln w="25400">
            <a:solidFill>
              <a:srgbClr val="1946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443578" y="4197096"/>
            <a:ext cx="320040" cy="0"/>
          </a:xfrm>
          <a:prstGeom prst="line">
            <a:avLst/>
          </a:prstGeom>
          <a:ln w="25400">
            <a:solidFill>
              <a:srgbClr val="1946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4773168"/>
            <a:ext cx="2328778" cy="822960"/>
          </a:xfrm>
          <a:prstGeom prst="roundRect">
            <a:avLst>
              <a:gd name="adj" fmla="val 6666"/>
            </a:avLst>
          </a:prstGeom>
          <a:solidFill>
            <a:srgbClr val="DCE8F5"/>
          </a:solidFill>
          <a:ln w="12700">
            <a:solidFill>
              <a:srgbClr val="B9CDE2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59352" y="4773168"/>
            <a:ext cx="1999594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回答が往復する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63618" y="4828032"/>
            <a:ext cx="4925156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09922" y="4828032"/>
            <a:ext cx="4632548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確認事項が決まっていない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123538" y="5184648"/>
            <a:ext cx="640080" cy="0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02920" y="3215640"/>
            <a:ext cx="2651760" cy="1158240"/>
          </a:xfrm>
          <a:prstGeom prst="roundRect">
            <a:avLst>
              <a:gd name="adj" fmla="val 4736"/>
            </a:avLst>
          </a:prstGeom>
          <a:solidFill>
            <a:srgbClr val="194671"/>
          </a:solidFill>
          <a:ln w="1270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6694" y="3215640"/>
            <a:ext cx="1604210" cy="1158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夜間の待ち時間が長い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474720" y="2057400"/>
            <a:ext cx="0" cy="3127248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474720" y="2057400"/>
            <a:ext cx="320040" cy="0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474720" y="5184648"/>
            <a:ext cx="320040" cy="0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154680" y="3794760"/>
            <a:ext cx="640080" cy="0"/>
          </a:xfrm>
          <a:prstGeom prst="line">
            <a:avLst/>
          </a:prstGeom>
          <a:ln w="25400">
            <a:solidFill>
              <a:srgbClr val="1946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対応が長引く理由は、仕組みの側にある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WHY  -  原 因 の 分 析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45737"/>
            <a:ext cx="5464911" cy="2007290"/>
          </a:xfrm>
          <a:prstGeom prst="roundRect">
            <a:avLst>
              <a:gd name="adj" fmla="val 2733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22376" y="1828617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71016" y="1828617"/>
            <a:ext cx="4532223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手順書が分散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13833"/>
            <a:ext cx="5025999" cy="107460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似た症状でも参照先が異なり、担当者は複数の手順書を行き来しています。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3863" y="1645737"/>
            <a:ext cx="5464911" cy="2007290"/>
          </a:xfrm>
          <a:prstGeom prst="roundRect">
            <a:avLst>
              <a:gd name="adj" fmla="val 2733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43319" y="1828617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1959" y="1828617"/>
            <a:ext cx="4532223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回答テンプレートの不足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3319" y="2413833"/>
            <a:ext cx="5025999" cy="107460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確認すべき事項が決まっておらず、追加の質問が往復しています。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909060"/>
            <a:ext cx="5464911" cy="2007290"/>
          </a:xfrm>
          <a:prstGeom prst="roundRect">
            <a:avLst>
              <a:gd name="adj" fmla="val 2733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2376" y="4091940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4091940"/>
            <a:ext cx="4532223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履歴が探しにくい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677156"/>
            <a:ext cx="5025999" cy="107460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過去の対応記録が自由記述で、同じ事例を探すのに時間がかかります。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863" y="3909060"/>
            <a:ext cx="5464911" cy="2007290"/>
          </a:xfrm>
          <a:prstGeom prst="roundRect">
            <a:avLst>
              <a:gd name="adj" fmla="val 2733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43319" y="4091940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1959" y="4091940"/>
            <a:ext cx="4532223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シフトと受付の山のずれ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3319" y="4677156"/>
            <a:ext cx="5025999" cy="107460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夜間の件数増加に、当番の人数が追いついていません。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着手は「効果が大きく、手間が小さい」施策から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WHY  -  原 因 の 分 析  -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9848" y="1353312"/>
            <a:ext cx="0" cy="4562856"/>
          </a:xfrm>
          <a:prstGeom prst="line">
            <a:avLst/>
          </a:prstGeom>
          <a:ln w="22225">
            <a:solidFill>
              <a:srgbClr val="8496A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" y="5916168"/>
            <a:ext cx="10618927" cy="0"/>
          </a:xfrm>
          <a:prstGeom prst="line">
            <a:avLst/>
          </a:prstGeom>
          <a:ln w="22225">
            <a:solidFill>
              <a:srgbClr val="8496A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86968" y="2967228"/>
            <a:ext cx="365760" cy="1005840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86968" y="2967228"/>
            <a:ext cx="365760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効</a:t>
            </a:r>
          </a:p>
          <a:p>
            <a:pPr algn="ctr">
              <a:lnSpc>
                <a:spcPct val="9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4937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312664"/>
            <a:ext cx="4937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50127" y="5694426"/>
            <a:ext cx="1005840" cy="443484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手間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596188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5735" y="596188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1298448"/>
            <a:ext cx="5007711" cy="2043684"/>
          </a:xfrm>
          <a:prstGeom prst="roundRect">
            <a:avLst>
              <a:gd name="adj" fmla="val 2684"/>
            </a:avLst>
          </a:prstGeom>
          <a:solidFill>
            <a:srgbClr val="DCE8F5"/>
          </a:solidFill>
          <a:ln w="2540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36776" y="1481328"/>
            <a:ext cx="1325880" cy="443484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すぐやる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36776" y="2034539"/>
            <a:ext cx="4568799" cy="11978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05000"/>
              </a:lnSpc>
              <a:spcBef>
                <a:spcPts val="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よくある質問の追加</a:t>
            </a:r>
          </a:p>
          <a:p>
            <a:pPr algn="l" marL="201168" indent="-201168">
              <a:lnSpc>
                <a:spcPct val="105000"/>
              </a:lnSpc>
              <a:spcBef>
                <a:spcPts val="40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回答テンプレート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81063" y="1298448"/>
            <a:ext cx="5007711" cy="2043684"/>
          </a:xfrm>
          <a:prstGeom prst="roundRect">
            <a:avLst>
              <a:gd name="adj" fmla="val 2684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00519" y="1481328"/>
            <a:ext cx="1783080" cy="443484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計画してやる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0519" y="2034539"/>
            <a:ext cx="4568799" cy="11978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05000"/>
              </a:lnSpc>
              <a:spcBef>
                <a:spcPts val="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手順書の一本化</a:t>
            </a:r>
          </a:p>
          <a:p>
            <a:pPr algn="l" marL="201168" indent="-201168">
              <a:lnSpc>
                <a:spcPct val="105000"/>
              </a:lnSpc>
              <a:spcBef>
                <a:spcPts val="40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夜間当番の増員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17320" y="3598163"/>
            <a:ext cx="5007711" cy="2043684"/>
          </a:xfrm>
          <a:prstGeom prst="roundRect">
            <a:avLst>
              <a:gd name="adj" fmla="val 2684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636776" y="3781044"/>
            <a:ext cx="1783080" cy="443484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余力があれば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36776" y="4334256"/>
            <a:ext cx="4568799" cy="119786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05000"/>
              </a:lnSpc>
              <a:spcBef>
                <a:spcPts val="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受付時間の案内の改善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81063" y="3598163"/>
            <a:ext cx="5007711" cy="2043684"/>
          </a:xfrm>
          <a:prstGeom prst="roundRect">
            <a:avLst>
              <a:gd name="adj" fmla="val 2684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00519" y="3781044"/>
            <a:ext cx="2011680" cy="443484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今回はやらない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0519" y="4334256"/>
            <a:ext cx="4568799" cy="119786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05000"/>
              </a:lnSpc>
              <a:spcBef>
                <a:spcPts val="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受付システムの入れ替え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651760"/>
            <a:ext cx="6858000" cy="822960"/>
          </a:xfrm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sz="4000" b="1" lang="ja-JP" altLang="en-US">
                <a:solidFill>
                  <a:srgbClr val="194671"/>
                </a:solidFill>
                <a:latin typeface="游ゴシック"/>
                <a:ea typeface="游ゴシック"/>
                <a:cs typeface="游ゴシック"/>
              </a:rPr>
              <a:t>03　改善のご提案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2044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施策・日程・体制・費用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0233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0" spc="200" lang="ja-JP" altLang="en-US">
                <a:solidFill>
                  <a:srgbClr val="5F6F84"/>
                </a:solidFill>
                <a:latin typeface="Arial"/>
                <a:ea typeface="游ゴシック"/>
                <a:cs typeface="Arial"/>
              </a:rPr>
              <a:t>-  P l a n  -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手順の一本化で、切り分けは3段階から1段階に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PLAN  -  改 善 の ご 提 案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4998567" cy="3145840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572768"/>
            <a:ext cx="1005840" cy="373380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74164"/>
            <a:ext cx="4449927" cy="4053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製品ごとに手順書が分かれている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2589276"/>
            <a:ext cx="4449927" cy="0"/>
          </a:xfrm>
          <a:prstGeom prst="line">
            <a:avLst/>
          </a:prstGeom>
          <a:ln w="9525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2699004"/>
            <a:ext cx="4449927" cy="15075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08000"/>
              </a:lnSpc>
              <a:spcBef>
                <a:spcPts val="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20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症状から手順書を探す</a:t>
            </a:r>
          </a:p>
          <a:p>
            <a:pPr algn="l" marL="201168" indent="-201168">
              <a:lnSpc>
                <a:spcPct val="108000"/>
              </a:lnSpc>
              <a:spcBef>
                <a:spcPts val="60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20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製品ごとに確認方法が違う</a:t>
            </a:r>
          </a:p>
          <a:p>
            <a:pPr algn="l" marL="201168" indent="-201168">
              <a:lnSpc>
                <a:spcPct val="108000"/>
              </a:lnSpc>
              <a:spcBef>
                <a:spcPts val="60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20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切り分けに平均42分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90207" y="1298448"/>
            <a:ext cx="4998567" cy="3145840"/>
          </a:xfrm>
          <a:prstGeom prst="roundRect">
            <a:avLst>
              <a:gd name="adj" fmla="val 1744"/>
            </a:avLst>
          </a:prstGeom>
          <a:solidFill>
            <a:srgbClr val="DCE8F5"/>
          </a:solidFill>
          <a:ln w="2540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64527" y="1572768"/>
            <a:ext cx="1005840" cy="373380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改善後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4527" y="2074164"/>
            <a:ext cx="4449927" cy="4053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症状から1つの手順に入る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64527" y="2589276"/>
            <a:ext cx="4449928" cy="0"/>
          </a:xfrm>
          <a:prstGeom prst="line">
            <a:avLst/>
          </a:prstGeom>
          <a:ln w="9525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964527" y="2699004"/>
            <a:ext cx="4449927" cy="15075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08000"/>
              </a:lnSpc>
              <a:spcBef>
                <a:spcPts val="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20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症状の一覧から1つの手順に入る</a:t>
            </a:r>
          </a:p>
          <a:p>
            <a:pPr algn="l" marL="201168" indent="-201168">
              <a:lnSpc>
                <a:spcPct val="108000"/>
              </a:lnSpc>
              <a:spcBef>
                <a:spcPts val="60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20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切り分けは15分 以内</a:t>
            </a:r>
          </a:p>
        </p:txBody>
      </p:sp>
      <p:sp>
        <p:nvSpPr>
          <p:cNvPr id="15" name="Chevron 14"/>
          <p:cNvSpPr/>
          <p:nvPr/>
        </p:nvSpPr>
        <p:spPr>
          <a:xfrm>
            <a:off x="5858103" y="2277008"/>
            <a:ext cx="475488" cy="786384"/>
          </a:xfrm>
          <a:prstGeom prst="chevron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6351" y="3136544"/>
            <a:ext cx="1078992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94671"/>
                </a:solidFill>
                <a:latin typeface="游ゴシック"/>
                <a:ea typeface="游ゴシック"/>
                <a:cs typeface="游ゴシック"/>
              </a:rPr>
              <a:t>一本化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費用と効果のバランスは、B案（段階導入）が最良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PLAN  -  改 善 の ご 提 案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56157" y="1457706"/>
            <a:ext cx="3125453" cy="4805933"/>
          </a:xfrm>
          <a:prstGeom prst="roundRect">
            <a:avLst>
              <a:gd name="adj" fmla="val 1755"/>
            </a:avLst>
          </a:prstGeom>
          <a:solidFill>
            <a:srgbClr val="DCE8F5"/>
          </a:solidFill>
          <a:ln w="12700">
            <a:noFill/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48992" y="1662684"/>
            <a:ext cx="2942573" cy="906780"/>
          </a:xfrm>
          <a:prstGeom prst="roundRect">
            <a:avLst>
              <a:gd name="adj" fmla="val 605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86152" y="1790700"/>
            <a:ext cx="2668253" cy="350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A案：一括導入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6152" y="2196084"/>
            <a:ext cx="2668253" cy="2636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全社で一度に効果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47597" y="1662684"/>
            <a:ext cx="2942573" cy="906780"/>
          </a:xfrm>
          <a:prstGeom prst="roundRect">
            <a:avLst>
              <a:gd name="adj" fmla="val 6050"/>
            </a:avLst>
          </a:prstGeom>
          <a:solidFill>
            <a:srgbClr val="194671"/>
          </a:solidFill>
          <a:ln w="1270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84757" y="1790700"/>
            <a:ext cx="2668253" cy="350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B案：段階導入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84757" y="2196084"/>
            <a:ext cx="2668253" cy="2636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0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2期に分けて導入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46202" y="1662684"/>
            <a:ext cx="2942573" cy="906780"/>
          </a:xfrm>
          <a:prstGeom prst="roundRect">
            <a:avLst>
              <a:gd name="adj" fmla="val 605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3362" y="1790700"/>
            <a:ext cx="2668253" cy="350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C案：現状維持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83362" y="2196084"/>
            <a:ext cx="2668253" cy="2636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費用はかからない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60904"/>
            <a:ext cx="1498600" cy="849439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効果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920" y="3510343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348992" y="2660904"/>
            <a:ext cx="2942573" cy="849439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7597" y="2660904"/>
            <a:ext cx="2942573" cy="849439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46202" y="2660904"/>
            <a:ext cx="2942573" cy="849439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510343"/>
            <a:ext cx="1498600" cy="849439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費用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4359783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348992" y="3510343"/>
            <a:ext cx="2942573" cy="849439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7597" y="3510343"/>
            <a:ext cx="2942573" cy="849439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46202" y="3510343"/>
            <a:ext cx="2942573" cy="849439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359783"/>
            <a:ext cx="1498600" cy="849439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期間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2920" y="5209222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348992" y="4359783"/>
            <a:ext cx="2942573" cy="849439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47597" y="4359783"/>
            <a:ext cx="2942573" cy="849439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46202" y="4359783"/>
            <a:ext cx="2942573" cy="849439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209222"/>
            <a:ext cx="1498600" cy="849439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現場の負担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2920" y="6058661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348992" y="5209222"/>
            <a:ext cx="2942573" cy="849439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47597" y="5209222"/>
            <a:ext cx="2942573" cy="849439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46202" y="5209222"/>
            <a:ext cx="2942573" cy="849439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◎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56157" y="1457706"/>
            <a:ext cx="3125453" cy="4805933"/>
          </a:xfrm>
          <a:prstGeom prst="roundRect">
            <a:avLst>
              <a:gd name="adj" fmla="val 1755"/>
            </a:avLst>
          </a:prstGeom>
          <a:noFill/>
          <a:ln w="25400">
            <a:solidFill>
              <a:srgbClr val="1946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57543" y="1298448"/>
            <a:ext cx="1122680" cy="318516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おすすめ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4つのステップ、3か月で全社に展開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PLAN  -  改 善 の ご 提 案  -</a:t>
            </a:r>
          </a:p>
        </p:txBody>
      </p:sp>
      <p:sp>
        <p:nvSpPr>
          <p:cNvPr id="5" name="Pentagon 4"/>
          <p:cNvSpPr/>
          <p:nvPr/>
        </p:nvSpPr>
        <p:spPr>
          <a:xfrm>
            <a:off x="502920" y="1298448"/>
            <a:ext cx="2604439" cy="512064"/>
          </a:xfrm>
          <a:prstGeom prst="homePlate">
            <a:avLst>
              <a:gd name="adj" fmla="val 42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7986" y="1298448"/>
            <a:ext cx="2174306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10月</a:t>
            </a:r>
          </a:p>
        </p:txBody>
      </p:sp>
      <p:sp>
        <p:nvSpPr>
          <p:cNvPr id="7" name="Chevron 6"/>
          <p:cNvSpPr/>
          <p:nvPr/>
        </p:nvSpPr>
        <p:spPr>
          <a:xfrm>
            <a:off x="3363391" y="1298448"/>
            <a:ext cx="2604439" cy="512064"/>
          </a:xfrm>
          <a:prstGeom prst="chevron">
            <a:avLst>
              <a:gd name="adj" fmla="val 42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78458" y="1298448"/>
            <a:ext cx="2174306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11月</a:t>
            </a:r>
          </a:p>
        </p:txBody>
      </p:sp>
      <p:sp>
        <p:nvSpPr>
          <p:cNvPr id="9" name="Chevron 8"/>
          <p:cNvSpPr/>
          <p:nvPr/>
        </p:nvSpPr>
        <p:spPr>
          <a:xfrm>
            <a:off x="6223863" y="1298448"/>
            <a:ext cx="2604439" cy="512064"/>
          </a:xfrm>
          <a:prstGeom prst="chevron">
            <a:avLst>
              <a:gd name="adj" fmla="val 42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8930" y="1298448"/>
            <a:ext cx="2174306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12月</a:t>
            </a:r>
          </a:p>
        </p:txBody>
      </p:sp>
      <p:sp>
        <p:nvSpPr>
          <p:cNvPr id="11" name="Chevron 10"/>
          <p:cNvSpPr/>
          <p:nvPr/>
        </p:nvSpPr>
        <p:spPr>
          <a:xfrm>
            <a:off x="9084335" y="1298448"/>
            <a:ext cx="2604439" cy="512064"/>
          </a:xfrm>
          <a:prstGeom prst="chevron">
            <a:avLst>
              <a:gd name="adj" fmla="val 42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99402" y="1298448"/>
            <a:ext cx="2174306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993392"/>
            <a:ext cx="2604439" cy="2415052"/>
          </a:xfrm>
          <a:prstGeom prst="roundRect">
            <a:avLst>
              <a:gd name="adj" fmla="val 2271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157984"/>
            <a:ext cx="2238679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1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STEP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32304"/>
            <a:ext cx="2238679" cy="38709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現状調査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10840"/>
            <a:ext cx="2238679" cy="0"/>
          </a:xfrm>
          <a:prstGeom prst="line">
            <a:avLst/>
          </a:prstGeom>
          <a:ln w="9525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020568"/>
            <a:ext cx="2238679" cy="10769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受付記録を分析し、夜間に多い質問を洗い出す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63391" y="1993392"/>
            <a:ext cx="2604439" cy="2415052"/>
          </a:xfrm>
          <a:prstGeom prst="roundRect">
            <a:avLst>
              <a:gd name="adj" fmla="val 2271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46271" y="2157984"/>
            <a:ext cx="2238679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1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6271" y="2432304"/>
            <a:ext cx="2238679" cy="38709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手順の一本化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6271" y="2910840"/>
            <a:ext cx="2238680" cy="0"/>
          </a:xfrm>
          <a:prstGeom prst="line">
            <a:avLst/>
          </a:prstGeom>
          <a:ln w="9525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6271" y="3020568"/>
            <a:ext cx="2238679" cy="10769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症状から入る手順書を作り、担当者で試す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3863" y="1993392"/>
            <a:ext cx="2604439" cy="2415052"/>
          </a:xfrm>
          <a:prstGeom prst="roundRect">
            <a:avLst>
              <a:gd name="adj" fmla="val 2271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6743" y="2157984"/>
            <a:ext cx="2238679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1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STEP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6743" y="2432304"/>
            <a:ext cx="2238679" cy="38709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試行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06743" y="2910840"/>
            <a:ext cx="2238680" cy="0"/>
          </a:xfrm>
          <a:prstGeom prst="line">
            <a:avLst/>
          </a:prstGeom>
          <a:ln w="9525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6743" y="3020568"/>
            <a:ext cx="2238679" cy="7362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夜間帯で試し、待ち時間を毎週はかる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4335" y="1993392"/>
            <a:ext cx="2604439" cy="2415052"/>
          </a:xfrm>
          <a:prstGeom prst="roundRect">
            <a:avLst>
              <a:gd name="adj" fmla="val 2271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67215" y="2157984"/>
            <a:ext cx="2238679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1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STEP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7215" y="2432304"/>
            <a:ext cx="2238679" cy="38709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全社展開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267215" y="2910840"/>
            <a:ext cx="2238680" cy="0"/>
          </a:xfrm>
          <a:prstGeom prst="line">
            <a:avLst/>
          </a:prstGeom>
          <a:ln w="9525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267215" y="3020568"/>
            <a:ext cx="2238679" cy="7362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効果を確認し、日中の受付にも広げる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10月に準備、12月に試行、2月に全社へ展開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PLAN  -  改 善 の ご 提 案  -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5855" cy="373380"/>
          </a:xfrm>
          <a:prstGeom prst="rect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298448"/>
            <a:ext cx="1755648" cy="3733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タスク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51176" y="1298448"/>
            <a:ext cx="1482344" cy="3733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担当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7528" y="1298448"/>
            <a:ext cx="1468871" cy="3733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10月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1263" y="1298448"/>
            <a:ext cx="1468871" cy="3733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11月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44999" y="1298448"/>
            <a:ext cx="1468871" cy="3733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12月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68735" y="1298448"/>
            <a:ext cx="1468871" cy="3733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2471" y="1298448"/>
            <a:ext cx="1468871" cy="3733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671827"/>
            <a:ext cx="11185855" cy="676656"/>
          </a:xfrm>
          <a:prstGeom prst="rect">
            <a:avLst/>
          </a:prstGeom>
          <a:solidFill>
            <a:srgbClr val="EF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348484"/>
            <a:ext cx="11185855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025140"/>
            <a:ext cx="11185855" cy="676656"/>
          </a:xfrm>
          <a:prstGeom prst="rect">
            <a:avLst/>
          </a:prstGeom>
          <a:solidFill>
            <a:srgbClr val="EF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701795"/>
            <a:ext cx="11185855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378452"/>
            <a:ext cx="11185855" cy="676656"/>
          </a:xfrm>
          <a:prstGeom prst="rect">
            <a:avLst/>
          </a:prstGeom>
          <a:solidFill>
            <a:srgbClr val="EF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055108"/>
            <a:ext cx="11185855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02920" y="2348484"/>
            <a:ext cx="11185855" cy="0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02920" y="3025140"/>
            <a:ext cx="11185855" cy="0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" y="3701795"/>
            <a:ext cx="11185855" cy="0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2920" y="4378452"/>
            <a:ext cx="11185855" cy="0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2920" y="5055108"/>
            <a:ext cx="11185855" cy="0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02920" y="5731763"/>
            <a:ext cx="11185855" cy="0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593831" y="1671827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17567" y="1671827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641303" y="1671827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165039" y="1671827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514600" y="1671827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070096" y="1671827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02920" y="1671827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688775" y="1671827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30936" y="1671827"/>
            <a:ext cx="175564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現状調査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9464" y="1671827"/>
            <a:ext cx="144576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情報システム部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43248" y="1863851"/>
            <a:ext cx="1377431" cy="292608"/>
          </a:xfrm>
          <a:prstGeom prst="roundRect">
            <a:avLst>
              <a:gd name="adj" fmla="val 35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" y="2348484"/>
            <a:ext cx="175564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よくある質問の追加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69464" y="2348484"/>
            <a:ext cx="144576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ヘルプデスク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43248" y="2540508"/>
            <a:ext cx="2901167" cy="292608"/>
          </a:xfrm>
          <a:prstGeom prst="roundRect">
            <a:avLst>
              <a:gd name="adj" fmla="val 35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3025140"/>
            <a:ext cx="175564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手順書の一本化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9464" y="3025140"/>
            <a:ext cx="144576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ヘルプデスク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6983" y="3217164"/>
            <a:ext cx="2901167" cy="292608"/>
          </a:xfrm>
          <a:prstGeom prst="roundRect">
            <a:avLst>
              <a:gd name="adj" fmla="val 35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" y="3701795"/>
            <a:ext cx="175564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夜間当番の増員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69464" y="3701795"/>
            <a:ext cx="144576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人事部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6983" y="3893819"/>
            <a:ext cx="1377431" cy="292608"/>
          </a:xfrm>
          <a:prstGeom prst="roundRect">
            <a:avLst>
              <a:gd name="adj" fmla="val 35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" y="4378452"/>
            <a:ext cx="175564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夜間の試行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69464" y="4378452"/>
            <a:ext cx="144576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運用チーム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90719" y="4570476"/>
            <a:ext cx="2901167" cy="292608"/>
          </a:xfrm>
          <a:prstGeom prst="roundRect">
            <a:avLst>
              <a:gd name="adj" fmla="val 35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5055108"/>
            <a:ext cx="175564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全社展開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69464" y="5055108"/>
            <a:ext cx="144576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情報システム部</a:t>
            </a:r>
          </a:p>
        </p:txBody>
      </p:sp>
      <p:sp>
        <p:nvSpPr>
          <p:cNvPr id="50" name="Diamond 49"/>
          <p:cNvSpPr/>
          <p:nvPr/>
        </p:nvSpPr>
        <p:spPr>
          <a:xfrm>
            <a:off x="10753171" y="5219700"/>
            <a:ext cx="347472" cy="347472"/>
          </a:xfrm>
          <a:prstGeom prst="diamond">
            <a:avLst/>
          </a:prstGeom>
          <a:solidFill>
            <a:srgbClr val="2E75B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3チーム・9名の体制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PLAN  -  改 善 の ご 提 案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94252" y="1298448"/>
            <a:ext cx="3803190" cy="981455"/>
          </a:xfrm>
          <a:prstGeom prst="roundRect">
            <a:avLst>
              <a:gd name="adj" fmla="val 5590"/>
            </a:avLst>
          </a:prstGeom>
          <a:solidFill>
            <a:srgbClr val="194671"/>
          </a:solidFill>
          <a:ln w="1270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450284" y="1533143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27093" y="1599712"/>
            <a:ext cx="358444" cy="35844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90"/>
                </a:moveTo>
                <a:cubicBezTo>
                  <a:pt x="593" y="190"/>
                  <a:pt x="670" y="266"/>
                  <a:pt x="670" y="360"/>
                </a:cubicBezTo>
                <a:cubicBezTo>
                  <a:pt x="670" y="453"/>
                  <a:pt x="593" y="530"/>
                  <a:pt x="500" y="530"/>
                </a:cubicBezTo>
                <a:cubicBezTo>
                  <a:pt x="406" y="530"/>
                  <a:pt x="330" y="453"/>
                  <a:pt x="330" y="360"/>
                </a:cubicBezTo>
                <a:cubicBezTo>
                  <a:pt x="330" y="266"/>
                  <a:pt x="406" y="190"/>
                  <a:pt x="500" y="190"/>
                </a:cubicBezTo>
                <a:close/>
              </a:path>
              <a:path w="1000" h="1000">
                <a:moveTo>
                  <a:pt x="190" y="900"/>
                </a:moveTo>
                <a:cubicBezTo>
                  <a:pt x="190" y="700"/>
                  <a:pt x="330" y="590"/>
                  <a:pt x="500" y="590"/>
                </a:cubicBezTo>
                <a:cubicBezTo>
                  <a:pt x="670" y="590"/>
                  <a:pt x="810" y="700"/>
                  <a:pt x="810" y="900"/>
                </a:cubicBezTo>
                <a:close/>
              </a:path>
            </a:pathLst>
          </a:cu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5228" y="1417319"/>
            <a:ext cx="2632758" cy="2834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プロジェクト責任者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5228" y="1700784"/>
            <a:ext cx="2632758" cy="460247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情報システム部長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847" y="2279904"/>
            <a:ext cx="0" cy="283464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81885" y="2563368"/>
            <a:ext cx="7627925" cy="0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281885" y="2563368"/>
            <a:ext cx="0" cy="283464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2563368"/>
            <a:ext cx="0" cy="283464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909810" y="2563368"/>
            <a:ext cx="0" cy="283464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2920" y="2846832"/>
            <a:ext cx="3557930" cy="2272817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502920" y="2846832"/>
            <a:ext cx="3557930" cy="402336"/>
          </a:xfrm>
          <a:prstGeom prst="round2SameRect">
            <a:avLst>
              <a:gd name="adj1" fmla="val 13636"/>
              <a:gd name="adj2" fmla="val 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調査チーム</a:t>
            </a:r>
          </a:p>
        </p:txBody>
      </p:sp>
      <p:sp>
        <p:nvSpPr>
          <p:cNvPr id="17" name="Oval 16"/>
          <p:cNvSpPr/>
          <p:nvPr/>
        </p:nvSpPr>
        <p:spPr>
          <a:xfrm>
            <a:off x="2053285" y="3432048"/>
            <a:ext cx="457200" cy="457200"/>
          </a:xfrm>
          <a:prstGeom prst="ellipse">
            <a:avLst/>
          </a:prstGeom>
          <a:solidFill>
            <a:srgbClr val="EF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21865" y="3491484"/>
            <a:ext cx="320040" cy="3200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90"/>
                </a:moveTo>
                <a:cubicBezTo>
                  <a:pt x="593" y="190"/>
                  <a:pt x="670" y="266"/>
                  <a:pt x="670" y="360"/>
                </a:cubicBezTo>
                <a:cubicBezTo>
                  <a:pt x="670" y="453"/>
                  <a:pt x="593" y="530"/>
                  <a:pt x="500" y="530"/>
                </a:cubicBezTo>
                <a:cubicBezTo>
                  <a:pt x="406" y="530"/>
                  <a:pt x="330" y="453"/>
                  <a:pt x="330" y="360"/>
                </a:cubicBezTo>
                <a:cubicBezTo>
                  <a:pt x="330" y="266"/>
                  <a:pt x="406" y="190"/>
                  <a:pt x="500" y="190"/>
                </a:cubicBezTo>
                <a:close/>
              </a:path>
              <a:path w="1000" h="1000">
                <a:moveTo>
                  <a:pt x="190" y="900"/>
                </a:moveTo>
                <a:cubicBezTo>
                  <a:pt x="190" y="700"/>
                  <a:pt x="330" y="590"/>
                  <a:pt x="500" y="590"/>
                </a:cubicBezTo>
                <a:cubicBezTo>
                  <a:pt x="670" y="590"/>
                  <a:pt x="810" y="700"/>
                  <a:pt x="810" y="900"/>
                </a:cubicBezTo>
                <a:close/>
              </a:path>
            </a:pathLst>
          </a:cu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980688"/>
            <a:ext cx="3192170" cy="350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3名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570299" y="4422647"/>
            <a:ext cx="1423172" cy="0"/>
          </a:xfrm>
          <a:prstGeom prst="line">
            <a:avLst/>
          </a:prstGeom>
          <a:ln w="12700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514087"/>
            <a:ext cx="3192170" cy="4958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受付記録の分析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6882" y="2846832"/>
            <a:ext cx="3557930" cy="2272817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4316882" y="2846832"/>
            <a:ext cx="3557930" cy="402336"/>
          </a:xfrm>
          <a:prstGeom prst="round2SameRect">
            <a:avLst>
              <a:gd name="adj1" fmla="val 13636"/>
              <a:gd name="adj2" fmla="val 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手順チーム</a:t>
            </a:r>
          </a:p>
        </p:txBody>
      </p:sp>
      <p:sp>
        <p:nvSpPr>
          <p:cNvPr id="24" name="Oval 23"/>
          <p:cNvSpPr/>
          <p:nvPr/>
        </p:nvSpPr>
        <p:spPr>
          <a:xfrm>
            <a:off x="5867247" y="3432048"/>
            <a:ext cx="457200" cy="457200"/>
          </a:xfrm>
          <a:prstGeom prst="ellipse">
            <a:avLst/>
          </a:prstGeom>
          <a:solidFill>
            <a:srgbClr val="EF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35827" y="3491484"/>
            <a:ext cx="320040" cy="3200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90"/>
                </a:moveTo>
                <a:cubicBezTo>
                  <a:pt x="593" y="190"/>
                  <a:pt x="670" y="266"/>
                  <a:pt x="670" y="360"/>
                </a:cubicBezTo>
                <a:cubicBezTo>
                  <a:pt x="670" y="453"/>
                  <a:pt x="593" y="530"/>
                  <a:pt x="500" y="530"/>
                </a:cubicBezTo>
                <a:cubicBezTo>
                  <a:pt x="406" y="530"/>
                  <a:pt x="330" y="453"/>
                  <a:pt x="330" y="360"/>
                </a:cubicBezTo>
                <a:cubicBezTo>
                  <a:pt x="330" y="266"/>
                  <a:pt x="406" y="190"/>
                  <a:pt x="500" y="190"/>
                </a:cubicBezTo>
                <a:close/>
              </a:path>
              <a:path w="1000" h="1000">
                <a:moveTo>
                  <a:pt x="190" y="900"/>
                </a:moveTo>
                <a:cubicBezTo>
                  <a:pt x="190" y="700"/>
                  <a:pt x="330" y="590"/>
                  <a:pt x="500" y="590"/>
                </a:cubicBezTo>
                <a:cubicBezTo>
                  <a:pt x="670" y="590"/>
                  <a:pt x="810" y="700"/>
                  <a:pt x="810" y="900"/>
                </a:cubicBezTo>
                <a:close/>
              </a:path>
            </a:pathLst>
          </a:cu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99762" y="3980688"/>
            <a:ext cx="3192170" cy="350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4名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84261" y="4422647"/>
            <a:ext cx="1423172" cy="0"/>
          </a:xfrm>
          <a:prstGeom prst="line">
            <a:avLst/>
          </a:prstGeom>
          <a:ln w="12700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499762" y="4514087"/>
            <a:ext cx="3192170" cy="4958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手順書・よくある質問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0844" y="2846832"/>
            <a:ext cx="3557930" cy="2272817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0" name="Round Same Side Corner Rectangle 29"/>
          <p:cNvSpPr/>
          <p:nvPr/>
        </p:nvSpPr>
        <p:spPr>
          <a:xfrm>
            <a:off x="8130844" y="2846832"/>
            <a:ext cx="3557930" cy="402336"/>
          </a:xfrm>
          <a:prstGeom prst="round2SameRect">
            <a:avLst>
              <a:gd name="adj1" fmla="val 13636"/>
              <a:gd name="adj2" fmla="val 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運用チーム</a:t>
            </a:r>
          </a:p>
        </p:txBody>
      </p:sp>
      <p:sp>
        <p:nvSpPr>
          <p:cNvPr id="31" name="Oval 30"/>
          <p:cNvSpPr/>
          <p:nvPr/>
        </p:nvSpPr>
        <p:spPr>
          <a:xfrm>
            <a:off x="9681210" y="3432048"/>
            <a:ext cx="457200" cy="457200"/>
          </a:xfrm>
          <a:prstGeom prst="ellipse">
            <a:avLst/>
          </a:prstGeom>
          <a:solidFill>
            <a:srgbClr val="EF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49790" y="3491484"/>
            <a:ext cx="320040" cy="3200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90"/>
                </a:moveTo>
                <a:cubicBezTo>
                  <a:pt x="593" y="190"/>
                  <a:pt x="670" y="266"/>
                  <a:pt x="670" y="360"/>
                </a:cubicBezTo>
                <a:cubicBezTo>
                  <a:pt x="670" y="453"/>
                  <a:pt x="593" y="530"/>
                  <a:pt x="500" y="530"/>
                </a:cubicBezTo>
                <a:cubicBezTo>
                  <a:pt x="406" y="530"/>
                  <a:pt x="330" y="453"/>
                  <a:pt x="330" y="360"/>
                </a:cubicBezTo>
                <a:cubicBezTo>
                  <a:pt x="330" y="266"/>
                  <a:pt x="406" y="190"/>
                  <a:pt x="500" y="190"/>
                </a:cubicBezTo>
                <a:close/>
              </a:path>
              <a:path w="1000" h="1000">
                <a:moveTo>
                  <a:pt x="190" y="900"/>
                </a:moveTo>
                <a:cubicBezTo>
                  <a:pt x="190" y="700"/>
                  <a:pt x="330" y="590"/>
                  <a:pt x="500" y="590"/>
                </a:cubicBezTo>
                <a:cubicBezTo>
                  <a:pt x="670" y="590"/>
                  <a:pt x="810" y="700"/>
                  <a:pt x="810" y="900"/>
                </a:cubicBezTo>
                <a:close/>
              </a:path>
            </a:pathLst>
          </a:cu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13724" y="3980688"/>
            <a:ext cx="3192170" cy="350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2名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198223" y="4422647"/>
            <a:ext cx="1423173" cy="0"/>
          </a:xfrm>
          <a:prstGeom prst="line">
            <a:avLst/>
          </a:prstGeom>
          <a:ln w="12700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313724" y="4514087"/>
            <a:ext cx="3192170" cy="4958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夜間当番・効果の測定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マーカー"/>
          <p:cNvSpPr/>
          <p:nvPr/>
        </p:nvSpPr>
        <p:spPr>
          <a:xfrm>
            <a:off x="1919605" y="836081"/>
            <a:ext cx="1250188" cy="72557"/>
          </a:xfrm>
          <a:prstGeom prst="roundRect">
            <a:avLst>
              <a:gd name="adj" fmla="val 50000"/>
            </a:avLst>
          </a:prstGeom>
          <a:solidFill>
            <a:srgbClr val="C9D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初期費用は</a:t>
            </a:r>
            <a:r>
              <a:rPr sz="2300" b="1" lang="ja-JP" altLang="en-US">
                <a:solidFill>
                  <a:srgbClr val="2E75B6"/>
                </a:solidFill>
                <a:latin typeface="游ゴシック"/>
                <a:ea typeface="游ゴシック"/>
                <a:cs typeface="游ゴシック"/>
              </a:rPr>
              <a:t>480万円</a:t>
            </a: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、年間の運用費は120万円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E0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PLAN  -  改 善 の ご 提 案  -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98448"/>
          <a:ext cx="7371891" cy="32080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420621"/>
                <a:gridCol w="3300847"/>
                <a:gridCol w="1650423"/>
              </a:tblGrid>
              <a:tr h="3733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項目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内容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4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金額（万円）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受付記録の分析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1か月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4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60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手順書の一本化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2か月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4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240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よくある質問の作成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20件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4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80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チャット受付の設定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既存の仕組みを利用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4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100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初期費用 合計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DCE8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DCE8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4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480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DCE8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130844" y="1298448"/>
            <a:ext cx="3557930" cy="1519275"/>
          </a:xfrm>
          <a:prstGeom prst="roundRect">
            <a:avLst>
              <a:gd name="adj" fmla="val 3611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8130844" y="1298448"/>
            <a:ext cx="3557930" cy="402336"/>
          </a:xfrm>
          <a:prstGeom prst="round2SameRect">
            <a:avLst>
              <a:gd name="adj1" fmla="val 13636"/>
              <a:gd name="adj2" fmla="val 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初期費用 合計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68004" y="1737360"/>
            <a:ext cx="3283610" cy="98892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480</a:t>
            </a:r>
            <a:r>
              <a:rPr sz="20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万円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0844" y="3037179"/>
            <a:ext cx="3557930" cy="1469288"/>
          </a:xfrm>
          <a:prstGeom prst="roundRect">
            <a:avLst>
              <a:gd name="adj" fmla="val 3734"/>
            </a:avLst>
          </a:prstGeom>
          <a:solidFill>
            <a:srgbClr val="EFF4FA"/>
          </a:solidFill>
          <a:ln w="12700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2012" y="3183483"/>
            <a:ext cx="3155594" cy="350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前提・注記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2012" y="3588867"/>
            <a:ext cx="3155594" cy="78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05000"/>
              </a:lnSpc>
              <a:spcBef>
                <a:spcPts val="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金額は税抜き・概算</a:t>
            </a:r>
          </a:p>
          <a:p>
            <a:pPr algn="l" marL="201168" indent="-201168">
              <a:lnSpc>
                <a:spcPct val="105000"/>
              </a:lnSpc>
              <a:spcBef>
                <a:spcPts val="30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運用費（年間120万円）は別途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主なリスクは2つ。どちらも事前の対策で抑えられる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PLAN  -  改 善 の ご 提 案  -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" y="1298448"/>
            <a:ext cx="914400" cy="2834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影響度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28216" y="1298448"/>
            <a:ext cx="3280245" cy="2834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リスク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5661" y="1298448"/>
            <a:ext cx="4174857" cy="2834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対策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3399" y="1298448"/>
            <a:ext cx="1645920" cy="2834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担当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55064"/>
            <a:ext cx="11185855" cy="1188720"/>
          </a:xfrm>
          <a:prstGeom prst="roundRect">
            <a:avLst>
              <a:gd name="adj" fmla="val 4615"/>
            </a:avLst>
          </a:prstGeom>
          <a:solidFill>
            <a:srgbClr val="DCE8F5"/>
          </a:solidFill>
          <a:ln w="15875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8952" y="2062734"/>
            <a:ext cx="658368" cy="373380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28216" y="1709928"/>
            <a:ext cx="3188805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移行期間に現場の負担が増える</a:t>
            </a:r>
          </a:p>
        </p:txBody>
      </p:sp>
      <p:sp>
        <p:nvSpPr>
          <p:cNvPr id="12" name="Chevron 11"/>
          <p:cNvSpPr/>
          <p:nvPr/>
        </p:nvSpPr>
        <p:spPr>
          <a:xfrm>
            <a:off x="5145621" y="2112264"/>
            <a:ext cx="182880" cy="274320"/>
          </a:xfrm>
          <a:prstGeom prst="chevron">
            <a:avLst/>
          </a:prstGeom>
          <a:solidFill>
            <a:srgbClr val="849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20525" y="1709928"/>
            <a:ext cx="4065129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0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移行期間は当番を1名追加する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3399" y="1709928"/>
            <a:ext cx="155448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情報システム部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26664"/>
            <a:ext cx="11185855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58952" y="3434334"/>
            <a:ext cx="658368" cy="37338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28216" y="3081528"/>
            <a:ext cx="3188805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新しい手順書が使われない</a:t>
            </a:r>
          </a:p>
        </p:txBody>
      </p:sp>
      <p:sp>
        <p:nvSpPr>
          <p:cNvPr id="18" name="Chevron 17"/>
          <p:cNvSpPr/>
          <p:nvPr/>
        </p:nvSpPr>
        <p:spPr>
          <a:xfrm>
            <a:off x="5145621" y="3483864"/>
            <a:ext cx="182880" cy="274320"/>
          </a:xfrm>
          <a:prstGeom prst="chevron">
            <a:avLst/>
          </a:prstGeom>
          <a:solidFill>
            <a:srgbClr val="849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20525" y="3081528"/>
            <a:ext cx="4065129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0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試行期間に担当者の意見を反映する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3399" y="3081528"/>
            <a:ext cx="155448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ヘルプデスク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651760"/>
            <a:ext cx="6858000" cy="822960"/>
          </a:xfrm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sz="4000" b="1" lang="ja-JP" altLang="en-US">
                <a:solidFill>
                  <a:srgbClr val="194671"/>
                </a:solidFill>
                <a:latin typeface="游ゴシック"/>
                <a:ea typeface="游ゴシック"/>
                <a:cs typeface="游ゴシック"/>
              </a:rPr>
              <a:t>04　次のアクション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2044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準備の状況と、決めていただきたいこと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0233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0" spc="200" lang="ja-JP" altLang="en-US">
                <a:solidFill>
                  <a:srgbClr val="5F6F84"/>
                </a:solidFill>
                <a:latin typeface="Arial"/>
                <a:ea typeface="游ゴシック"/>
                <a:cs typeface="Arial"/>
              </a:rPr>
              <a:t>-  N e x t  -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準備は5件中4件が順調、1件は人員の手当てが必要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NEXT  -  次 の ア ク シ ョ ン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915923" cy="373380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全5件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46860" y="1298448"/>
            <a:ext cx="1036828" cy="373380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完了1件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3416" y="1298448"/>
            <a:ext cx="1214627" cy="37338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進行中2件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17772" y="1298448"/>
            <a:ext cx="1036828" cy="373380"/>
          </a:xfrm>
          <a:prstGeom prst="roundRect">
            <a:avLst>
              <a:gd name="adj" fmla="val 50000"/>
            </a:avLst>
          </a:prstGeom>
          <a:solidFill>
            <a:srgbClr val="A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遅延1件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64328" y="1298448"/>
            <a:ext cx="1214627" cy="373380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未着手1件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1872996"/>
            <a:ext cx="1097280" cy="2834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状況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11095" y="1872996"/>
            <a:ext cx="2257124" cy="2834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項目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1100" y="1872996"/>
            <a:ext cx="2103120" cy="2834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進捗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7100" y="1872996"/>
            <a:ext cx="1554480" cy="2834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担当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4460" y="1872996"/>
            <a:ext cx="868680" cy="2834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期限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6020" y="1872996"/>
            <a:ext cx="2134738" cy="2834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備考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920" y="2193036"/>
            <a:ext cx="11185855" cy="0"/>
          </a:xfrm>
          <a:prstGeom prst="line">
            <a:avLst/>
          </a:prstGeom>
          <a:ln w="1270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2344674"/>
            <a:ext cx="987552" cy="373380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完了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11095" y="2193036"/>
            <a:ext cx="2257124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よくある質問の追加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51100" y="2458212"/>
            <a:ext cx="1463039" cy="146304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51100" y="2458212"/>
            <a:ext cx="1463040" cy="146304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87292" y="2193036"/>
            <a:ext cx="56692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37100" y="2193036"/>
            <a:ext cx="15544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ヘルプデスク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4460" y="2193036"/>
            <a:ext cx="8686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Arial"/>
                <a:ea typeface="游ゴシック"/>
                <a:cs typeface="Arial"/>
              </a:rPr>
              <a:t>10/31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2869692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85800" y="3021330"/>
            <a:ext cx="987552" cy="37338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進行中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11095" y="2869692"/>
            <a:ext cx="2257124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受付記録の分析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51100" y="3134868"/>
            <a:ext cx="1463039" cy="146304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51100" y="3134868"/>
            <a:ext cx="1024127" cy="14630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87292" y="2869692"/>
            <a:ext cx="56692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37100" y="2869692"/>
            <a:ext cx="15544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調査チーム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4460" y="2869692"/>
            <a:ext cx="8686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Arial"/>
                <a:ea typeface="游ゴシック"/>
                <a:cs typeface="Arial"/>
              </a:rPr>
              <a:t>11/10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2920" y="3546348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85800" y="3697986"/>
            <a:ext cx="987552" cy="37338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進行中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11095" y="3546348"/>
            <a:ext cx="2257124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手順書の下書き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1100" y="3811524"/>
            <a:ext cx="1463039" cy="146304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351100" y="3811524"/>
            <a:ext cx="585215" cy="14630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87292" y="3546348"/>
            <a:ext cx="56692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40%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37100" y="3546348"/>
            <a:ext cx="15544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手順チーム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74460" y="3546348"/>
            <a:ext cx="8686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Arial"/>
                <a:ea typeface="游ゴシック"/>
                <a:cs typeface="Arial"/>
              </a:rPr>
              <a:t>11/30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250436"/>
            <a:ext cx="11185855" cy="621792"/>
          </a:xfrm>
          <a:prstGeom prst="roundRect">
            <a:avLst>
              <a:gd name="adj" fmla="val 8823"/>
            </a:avLst>
          </a:prstGeom>
          <a:solidFill>
            <a:srgbClr val="DCE8F5"/>
          </a:solidFill>
          <a:ln w="15875">
            <a:solidFill>
              <a:srgbClr val="A33A3A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85800" y="4374642"/>
            <a:ext cx="987552" cy="373380"/>
          </a:xfrm>
          <a:prstGeom prst="roundRect">
            <a:avLst>
              <a:gd name="adj" fmla="val 50000"/>
            </a:avLst>
          </a:prstGeom>
          <a:solidFill>
            <a:srgbClr val="A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遅延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11095" y="4223004"/>
            <a:ext cx="2257124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夜間当番の増員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51100" y="4488180"/>
            <a:ext cx="1463039" cy="146304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351100" y="4488180"/>
            <a:ext cx="438911" cy="146304"/>
          </a:xfrm>
          <a:prstGeom prst="roundRect">
            <a:avLst>
              <a:gd name="adj" fmla="val 50000"/>
            </a:avLst>
          </a:prstGeom>
          <a:solidFill>
            <a:srgbClr val="A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87292" y="4223004"/>
            <a:ext cx="56692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30%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37100" y="4223004"/>
            <a:ext cx="15544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人事部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74460" y="4223004"/>
            <a:ext cx="8686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Arial"/>
                <a:ea typeface="游ゴシック"/>
                <a:cs typeface="Arial"/>
              </a:rPr>
              <a:t>11/15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6020" y="4223004"/>
            <a:ext cx="213473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A33A3A"/>
                </a:solidFill>
                <a:latin typeface="游ゴシック"/>
                <a:ea typeface="游ゴシック"/>
                <a:cs typeface="游ゴシック"/>
              </a:rPr>
              <a:t>候補者を調整中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85800" y="5051298"/>
            <a:ext cx="987552" cy="373380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未着手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11095" y="4899660"/>
            <a:ext cx="2257124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効果の測定方法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1100" y="5164836"/>
            <a:ext cx="1463039" cy="146304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87292" y="4899660"/>
            <a:ext cx="56692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37100" y="4899660"/>
            <a:ext cx="15544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運用チーム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74460" y="4899660"/>
            <a:ext cx="8686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Arial"/>
                <a:ea typeface="游ゴシック"/>
                <a:cs typeface="Arial"/>
              </a:rPr>
              <a:t>12/1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11月の部会で決めていただきたい3点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NEXT  -  次 の ア ク シ ョ ン  -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80744" y="1298448"/>
            <a:ext cx="7336231" cy="2834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アクション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45575" y="1298448"/>
            <a:ext cx="1463040" cy="2834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担当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1298448"/>
            <a:ext cx="1280160" cy="2834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期限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55064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22376" y="1901952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0744" y="1691640"/>
            <a:ext cx="7336231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B案（段階導入）での実施を承認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45575" y="1856232"/>
            <a:ext cx="0" cy="512064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408615" y="1856232"/>
            <a:ext cx="0" cy="512064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296095" y="1943100"/>
            <a:ext cx="761999" cy="338328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部会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1691640"/>
            <a:ext cx="109728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2E75B6"/>
                </a:solidFill>
                <a:latin typeface="Arial"/>
                <a:ea typeface="游ゴシック"/>
                <a:cs typeface="Arial"/>
              </a:rPr>
              <a:t>11/12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52344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" y="2999232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2788920"/>
            <a:ext cx="7336231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夜間当番の増員（1名）を決定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45575" y="2953512"/>
            <a:ext cx="0" cy="512063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408615" y="2953512"/>
            <a:ext cx="0" cy="512063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19895" y="3040379"/>
            <a:ext cx="914400" cy="338328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人事部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0055" y="2788920"/>
            <a:ext cx="109728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2E75B6"/>
                </a:solidFill>
                <a:latin typeface="Arial"/>
                <a:ea typeface="游ゴシック"/>
                <a:cs typeface="Arial"/>
              </a:rPr>
              <a:t>11/15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849624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376" y="4096512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0744" y="3986022"/>
            <a:ext cx="7336231" cy="36880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初期費用480万円の予算を確保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0744" y="4382262"/>
            <a:ext cx="7336231" cy="2636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下期の予備費から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45575" y="4050791"/>
            <a:ext cx="0" cy="512065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408615" y="4050791"/>
            <a:ext cx="0" cy="512065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82735" y="4137660"/>
            <a:ext cx="1188720" cy="338328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経営企画部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00055" y="3886200"/>
            <a:ext cx="109728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2E75B6"/>
                </a:solidFill>
                <a:latin typeface="Arial"/>
                <a:ea typeface="游ゴシック"/>
                <a:cs typeface="Arial"/>
              </a:rPr>
              <a:t>11/30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よくあるご質問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NEXT  -  参 考  -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98448"/>
            <a:ext cx="420624" cy="420624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Arial"/>
                <a:ea typeface="游ゴシック"/>
                <a:cs typeface="Arial"/>
              </a:rPr>
              <a:t>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333500"/>
            <a:ext cx="10545775" cy="3855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日中の受付も変わりますか？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810512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863090"/>
            <a:ext cx="10545775" cy="417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1月以降、効果を確かめてから日中にも同じ手順を広げます。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2628419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502920" y="2994157"/>
            <a:ext cx="420624" cy="420624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Arial"/>
                <a:ea typeface="游ゴシック"/>
                <a:cs typeface="Arial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029209"/>
            <a:ext cx="10545775" cy="3855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チャットだけになりますか？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3506221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558799"/>
            <a:ext cx="10545775" cy="417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電話の受付は続けます。定型の質問だけをチャットで先に受けます。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2920" y="4324129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02920" y="4689866"/>
            <a:ext cx="420624" cy="420624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Arial"/>
                <a:ea typeface="游ゴシック"/>
                <a:cs typeface="Arial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724918"/>
            <a:ext cx="10545775" cy="3855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夜間の当番は誰が担当しますか？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5201930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254508"/>
            <a:ext cx="10545775" cy="417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交代制とし、担当した人には手当を出します。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注記および出典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NEXT  -  参 考  -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5855" cy="1809597"/>
          </a:xfrm>
          <a:prstGeom prst="roundRect">
            <a:avLst>
              <a:gd name="adj" fmla="val 3031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99616"/>
            <a:ext cx="10637215" cy="350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注記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78152"/>
            <a:ext cx="502920" cy="3154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※1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978152"/>
            <a:ext cx="10134295" cy="383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本資料は見本です。数値・組織名はすべて架空のものです。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2434894"/>
            <a:ext cx="1063721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2544622"/>
            <a:ext cx="502920" cy="3154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※2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544622"/>
            <a:ext cx="10134295" cy="383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待ち時間は受付から担当者が最初に返信するまでの時間です。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364077"/>
            <a:ext cx="11185855" cy="1809597"/>
          </a:xfrm>
          <a:prstGeom prst="roundRect">
            <a:avLst>
              <a:gd name="adj" fmla="val 3031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65245"/>
            <a:ext cx="10637215" cy="350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出典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043781"/>
            <a:ext cx="502920" cy="3154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[1]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043781"/>
            <a:ext cx="10134295" cy="383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社内の受付システムの記録（2026年4月〜9月）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7240" y="4500524"/>
            <a:ext cx="1063721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7240" y="4610252"/>
            <a:ext cx="502920" cy="3154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610252"/>
            <a:ext cx="10134295" cy="383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8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社内アンケート（2026年9月、回答412名）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226AC6"/>
        </a:solidFill>
        <a:ln w="19050">
          <a:noFill/>
        </a:ln>
      </a:spPr>
      <a:bodyPr rtlCol="0" anchor="ctr"/>
      <a:lstStyle>
        <a:defPPr algn="ctr">
          <a:defRPr sz="1100" b="1" dirty="0">
            <a:solidFill>
              <a:schemeClr val="bg1">
                <a:lumMod val="95000"/>
              </a:schemeClr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27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cp:lastPrinted>2024-04-03T07:47:02Z</cp:lastPrinted>
  <dcterms:created xsi:type="dcterms:W3CDTF">2024-03-07T08:22:45Z</dcterms:created>
  <dcterms:modified xsi:type="dcterms:W3CDTF">2026-10-13T07:26:44Z</dcterms:modified>
  <dc:subject/>
  <cp:keywords/>
  <dc:description/>
  <cp:category/>
</cp:coreProperties>
</file>