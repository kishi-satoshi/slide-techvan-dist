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0"/>
    <p:sldId id="263" r:id="rId9"/>
    <p:sldId id="264" r:id="rId8"/>
    <p:sldId id="265" r:id="rId7"/>
    <p:sldId id="266" r:id="rId6"/>
    <p:sldId id="267" r:id="rId5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CAC8C8"/>
    <a:srgbClr val="DCEAF7"/>
    <a:srgbClr val="000000"/>
    <a:srgbClr val="163E64"/>
    <a:srgbClr val="758FAA"/>
    <a:srgbClr val="476A8D"/>
    <a:srgbClr val="194571"/>
    <a:srgbClr val="194671"/>
    <a:srgbClr val="215E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303CC2-A89F-4BA8-B579-02111506000A}" v="25" dt="2024-04-02T00:05:59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2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90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79" y="8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9.xml"/><Relationship Id="rId9" Type="http://schemas.openxmlformats.org/officeDocument/2006/relationships/slide" Target="slides/slide8.xml"/><Relationship Id="rId10" Type="http://schemas.openxmlformats.org/officeDocument/2006/relationships/slide" Target="slides/slide7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日中</c:v>
                </c:pt>
              </c:strCache>
            </c:strRef>
          </c:tx>
          <c:spPr>
            <a:solidFill>
              <a:srgbClr val="AEBCCC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420.0</c:v>
                </c:pt>
                <c:pt idx="1">
                  <c:v>410.0</c:v>
                </c:pt>
                <c:pt idx="2">
                  <c:v>430.0</c:v>
                </c:pt>
                <c:pt idx="3">
                  <c:v>415.0</c:v>
                </c:pt>
                <c:pt idx="4">
                  <c:v>405.0</c:v>
                </c:pt>
                <c:pt idx="5">
                  <c:v>420.0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夜間</c:v>
                </c:pt>
              </c:strCache>
            </c:strRef>
          </c:tx>
          <c:spPr>
            <a:solidFill>
              <a:srgbClr val="194671"/>
            </a:solidFill>
            <a:ln>
              <a:noFill/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1F4E79"/>
                    </a:solidFill>
                    <a:latin typeface="游ゴシック"/>
                    <a:ea typeface="游ゴシック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120.0</c:v>
                </c:pt>
                <c:pt idx="1">
                  <c:v>130.0</c:v>
                </c:pt>
                <c:pt idx="2">
                  <c:v>150.0</c:v>
                </c:pt>
                <c:pt idx="3">
                  <c:v>160.0</c:v>
                </c:pt>
                <c:pt idx="4">
                  <c:v>170.0</c:v>
                </c:pt>
                <c:pt idx="5">
                  <c:v>180.0</c:v>
                </c:pt>
              </c:numCache>
            </c:numRef>
          </c:val>
        </c:ser>
        <c:gapWidth val="55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12700">
            <a:solidFill>
              <a:srgbClr val="8496AB"/>
            </a:solidFill>
          </a:ln>
        </c:spPr>
        <c:txPr>
          <a:bodyPr/>
          <a:lstStyle/>
          <a:p>
            <a:pPr>
              <a:defRPr sz="1200">
                <a:solidFill>
                  <a:srgbClr val="44546A"/>
                </a:solidFill>
                <a:latin typeface="游ゴシック"/>
                <a:ea typeface="游ゴシック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l"/>
        <c:majorGridlines>
          <c:spPr>
            <a:ln w="9525">
              <a:solidFill>
                <a:srgbClr val="D8E2EE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50">
                <a:solidFill>
                  <a:srgbClr val="5F6F84"/>
                </a:solidFill>
                <a:latin typeface="游ゴシック"/>
                <a:ea typeface="游ゴシック"/>
              </a:defRPr>
            </a:pPr>
          </a:p>
        </c:txPr>
        <c:crossAx val="-2068027336"/>
        <c:crosses val="autoZero"/>
        <c:majorUnit val="100.0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44546A"/>
              </a:solidFill>
              <a:latin typeface="游ゴシック"/>
              <a:ea typeface="游ゴシック"/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44546A"/>
          </a:solidFill>
          <a:latin typeface="游ゴシック"/>
          <a:ea typeface="游ゴシック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4AB67-2CBF-4D14-90A7-A000BFDE1A6F}" type="datetimeFigureOut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3542EE-0A7C-49F2-A217-E18F54692D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0944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7E036D86-1388-1217-3594-0FB23CFCA5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46F9EE-5F5B-E606-32E8-28E98C1DBFBD}"/>
              </a:ext>
            </a:extLst>
          </p:cNvPr>
          <p:cNvSpPr txBox="1"/>
          <p:nvPr userDrawn="1"/>
        </p:nvSpPr>
        <p:spPr>
          <a:xfrm>
            <a:off x="11882464" y="6490778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5894915-1B34-4D91-B302-0DD780FBD655}" type="slidenum">
              <a:rPr kumimoji="1" lang="ja-JP" altLang="en-US" sz="12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1384668" y="2102589"/>
            <a:ext cx="7961811" cy="1325563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2">
                    <a:lumMod val="90000"/>
                    <a:lumOff val="1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タイトル</a:t>
            </a:r>
            <a:br>
              <a:rPr kumimoji="1" lang="en-US" altLang="ja-JP" dirty="0"/>
            </a:br>
            <a:r>
              <a:rPr kumimoji="1" lang="ja-JP" altLang="en-US" dirty="0"/>
              <a:t>サブタイトル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5D1F370-AD5F-2E12-5C70-FAC4AD404953}"/>
              </a:ext>
            </a:extLst>
          </p:cNvPr>
          <p:cNvCxnSpPr/>
          <p:nvPr userDrawn="1"/>
        </p:nvCxnSpPr>
        <p:spPr>
          <a:xfrm>
            <a:off x="1295549" y="2083359"/>
            <a:ext cx="0" cy="1269759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図 13" descr="アイコン&#10;&#10;中程度の精度で自動的に生成された説明">
            <a:extLst>
              <a:ext uri="{FF2B5EF4-FFF2-40B4-BE49-F238E27FC236}">
                <a16:creationId xmlns:a16="http://schemas.microsoft.com/office/drawing/2014/main" id="{FF22B882-78E2-7511-C600-2FE4D658A8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789" y="1108703"/>
            <a:ext cx="1447122" cy="21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86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7E036D86-1388-1217-3594-0FB23CFCA5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46F9EE-5F5B-E606-32E8-28E98C1DBFBD}"/>
              </a:ext>
            </a:extLst>
          </p:cNvPr>
          <p:cNvSpPr txBox="1"/>
          <p:nvPr userDrawn="1"/>
        </p:nvSpPr>
        <p:spPr>
          <a:xfrm>
            <a:off x="11882464" y="6490778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5894915-1B34-4D91-B302-0DD780FBD655}" type="slidenum">
              <a:rPr kumimoji="1" lang="ja-JP" altLang="en-US" sz="12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タイトル 1"/>
          <p:cNvSpPr>
            <a:spLocks noGrp="1"/>
          </p:cNvSpPr>
          <p:nvPr>
            <p:ph type="title"/>
          </p:nvPr>
        </p:nvSpPr>
        <p:spPr>
          <a:xfrm>
            <a:off x="1384669" y="2795769"/>
            <a:ext cx="7961811" cy="628770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tx2">
                    <a:lumMod val="90000"/>
                    <a:lumOff val="1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タイトル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5D1F370-AD5F-2E12-5C70-FAC4AD404953}"/>
              </a:ext>
            </a:extLst>
          </p:cNvPr>
          <p:cNvCxnSpPr/>
          <p:nvPr userDrawn="1"/>
        </p:nvCxnSpPr>
        <p:spPr>
          <a:xfrm>
            <a:off x="1295550" y="2776538"/>
            <a:ext cx="0" cy="64800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図 13" descr="アイコン&#10;&#10;中程度の精度で自動的に生成された説明">
            <a:extLst>
              <a:ext uri="{FF2B5EF4-FFF2-40B4-BE49-F238E27FC236}">
                <a16:creationId xmlns:a16="http://schemas.microsoft.com/office/drawing/2014/main" id="{FF22B882-78E2-7511-C600-2FE4D658A8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789" y="1108703"/>
            <a:ext cx="1447122" cy="21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03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7E036D86-1388-1217-3594-0FB23CFCA5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D46F9EE-5F5B-E606-32E8-28E98C1DBFBD}"/>
              </a:ext>
            </a:extLst>
          </p:cNvPr>
          <p:cNvSpPr txBox="1"/>
          <p:nvPr userDrawn="1"/>
        </p:nvSpPr>
        <p:spPr>
          <a:xfrm>
            <a:off x="11882464" y="6490778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5894915-1B34-4D91-B302-0DD780FBD655}" type="slidenum">
              <a:rPr kumimoji="1" lang="ja-JP" altLang="en-US" sz="1200" smtClean="0">
                <a:solidFill>
                  <a:schemeClr val="tx1"/>
                </a:solidFill>
              </a:rPr>
              <a:pPr/>
              <a:t>‹#›</a:t>
            </a:fld>
            <a:endParaRPr kumimoji="1" lang="ja-JP" altLang="en-US" sz="1200" dirty="0">
              <a:solidFill>
                <a:schemeClr val="tx1"/>
              </a:solidFill>
            </a:endParaRPr>
          </a:p>
        </p:txBody>
      </p:sp>
      <p:pic>
        <p:nvPicPr>
          <p:cNvPr id="14" name="図 13" descr="アイコン&#10;&#10;中程度の精度で自動的に生成された説明">
            <a:extLst>
              <a:ext uri="{FF2B5EF4-FFF2-40B4-BE49-F238E27FC236}">
                <a16:creationId xmlns:a16="http://schemas.microsoft.com/office/drawing/2014/main" id="{FF22B882-78E2-7511-C600-2FE4D658A8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8789" y="1108703"/>
            <a:ext cx="1447122" cy="215618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/>
          </p:nvPr>
        </p:nvSpPr>
        <p:spPr>
          <a:xfrm>
            <a:off x="1685925" y="2619420"/>
            <a:ext cx="8163469" cy="1325563"/>
          </a:xfrm>
        </p:spPr>
        <p:txBody>
          <a:bodyPr>
            <a:noAutofit/>
          </a:bodyPr>
          <a:lstStyle>
            <a:lvl1pPr algn="ctr">
              <a:defRPr sz="4800" b="1">
                <a:solidFill>
                  <a:schemeClr val="tx2">
                    <a:lumMod val="90000"/>
                    <a:lumOff val="1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タイトル</a:t>
            </a:r>
          </a:p>
        </p:txBody>
      </p:sp>
    </p:spTree>
    <p:extLst>
      <p:ext uri="{BB962C8B-B14F-4D97-AF65-F5344CB8AC3E}">
        <p14:creationId xmlns:p14="http://schemas.microsoft.com/office/powerpoint/2010/main" val="266077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>
            <a:extLst>
              <a:ext uri="{FF2B5EF4-FFF2-40B4-BE49-F238E27FC236}">
                <a16:creationId xmlns:a16="http://schemas.microsoft.com/office/drawing/2014/main" id="{C5995145-7A87-4C65-8D59-BD1094C30C57}"/>
              </a:ext>
            </a:extLst>
          </p:cNvPr>
          <p:cNvSpPr/>
          <p:nvPr userDrawn="1"/>
        </p:nvSpPr>
        <p:spPr>
          <a:xfrm flipH="1">
            <a:off x="11853308" y="5895948"/>
            <a:ext cx="336182" cy="962052"/>
          </a:xfrm>
          <a:prstGeom prst="rtTriangle">
            <a:avLst/>
          </a:prstGeom>
          <a:gradFill>
            <a:gsLst>
              <a:gs pos="0">
                <a:schemeClr val="tx2">
                  <a:lumMod val="90000"/>
                  <a:lumOff val="1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D46F9EE-5F5B-E606-32E8-28E98C1DBFBD}"/>
              </a:ext>
            </a:extLst>
          </p:cNvPr>
          <p:cNvSpPr txBox="1"/>
          <p:nvPr userDrawn="1"/>
        </p:nvSpPr>
        <p:spPr>
          <a:xfrm>
            <a:off x="11882464" y="6490778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35894915-1B34-4D91-B302-0DD780FBD655}" type="slidenum">
              <a:rPr kumimoji="1" lang="ja-JP" altLang="en-US" sz="1200" smtClean="0">
                <a:solidFill>
                  <a:schemeClr val="bg1"/>
                </a:solidFill>
              </a:rPr>
              <a:pPr algn="ctr"/>
              <a:t>‹#›</a:t>
            </a:fld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D1A5EFC1-56C7-72F5-03F2-EE984BD09823}"/>
              </a:ext>
            </a:extLst>
          </p:cNvPr>
          <p:cNvSpPr/>
          <p:nvPr userDrawn="1"/>
        </p:nvSpPr>
        <p:spPr>
          <a:xfrm rot="10800000" flipH="1">
            <a:off x="352156" y="263868"/>
            <a:ext cx="202488" cy="579460"/>
          </a:xfrm>
          <a:prstGeom prst="rtTriangle">
            <a:avLst/>
          </a:prstGeom>
          <a:gradFill flip="none" rotWithShape="1">
            <a:gsLst>
              <a:gs pos="0">
                <a:schemeClr val="tx2">
                  <a:lumMod val="90000"/>
                  <a:lumOff val="1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E44F6B5-9D33-2A98-643B-7B353912755B}"/>
              </a:ext>
            </a:extLst>
          </p:cNvPr>
          <p:cNvGrpSpPr/>
          <p:nvPr userDrawn="1"/>
        </p:nvGrpSpPr>
        <p:grpSpPr>
          <a:xfrm>
            <a:off x="9151581" y="6568644"/>
            <a:ext cx="2606046" cy="205710"/>
            <a:chOff x="8928119" y="6540069"/>
            <a:chExt cx="2606046" cy="205710"/>
          </a:xfrm>
        </p:grpSpPr>
        <p:pic>
          <p:nvPicPr>
            <p:cNvPr id="43" name="図 42" descr="アイコン&#10;&#10;中程度の精度で自動的に生成された説明">
              <a:extLst>
                <a:ext uri="{FF2B5EF4-FFF2-40B4-BE49-F238E27FC236}">
                  <a16:creationId xmlns:a16="http://schemas.microsoft.com/office/drawing/2014/main" id="{4C2E109A-9518-8BBA-83F7-F71BB09B5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64158" y="6540069"/>
              <a:ext cx="1070007" cy="159428"/>
            </a:xfrm>
            <a:prstGeom prst="rect">
              <a:avLst/>
            </a:prstGeom>
          </p:spPr>
        </p:pic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372138D9-D1E2-CAC7-0C81-27B2B5459169}"/>
                </a:ext>
              </a:extLst>
            </p:cNvPr>
            <p:cNvSpPr txBox="1"/>
            <p:nvPr/>
          </p:nvSpPr>
          <p:spPr>
            <a:xfrm>
              <a:off x="8928119" y="6545724"/>
              <a:ext cx="139814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Copyright(C)</a:t>
              </a:r>
              <a:r>
                <a:rPr kumimoji="1" lang="en-US" altLang="ja-JP" sz="7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TechVan</a:t>
              </a:r>
              <a:r>
                <a:rPr kumimoji="1" lang="en-US" altLang="ja-JP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co., Ltd.</a:t>
              </a:r>
              <a:endParaRPr kumimoji="1"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タイトル 1"/>
          <p:cNvSpPr>
            <a:spLocks noGrp="1"/>
          </p:cNvSpPr>
          <p:nvPr>
            <p:ph type="title"/>
          </p:nvPr>
        </p:nvSpPr>
        <p:spPr>
          <a:xfrm>
            <a:off x="557351" y="263868"/>
            <a:ext cx="10515600" cy="57946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tx2">
                    <a:lumMod val="90000"/>
                    <a:lumOff val="1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0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54644" y="1064623"/>
            <a:ext cx="10518307" cy="537536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922530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8896A-F36F-408D-BD52-6518A9D4976B}" type="datetime1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‹#›</a:t>
            </a:r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4915-1B34-4D91-B302-0DD780FBD65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0B4DDD1-9778-799B-0E24-FAAB7AE9728A}"/>
              </a:ext>
            </a:extLst>
          </p:cNvPr>
          <p:cNvSpPr>
            <a:spLocks/>
          </p:cNvSpPr>
          <p:nvPr userDrawn="1"/>
        </p:nvSpPr>
        <p:spPr>
          <a:xfrm>
            <a:off x="0" y="1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215F99"/>
              </a:gs>
              <a:gs pos="100000">
                <a:srgbClr val="203A6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51040AAF-76B3-A1BC-FA10-5328841EA540}"/>
              </a:ext>
            </a:extLst>
          </p:cNvPr>
          <p:cNvSpPr/>
          <p:nvPr userDrawn="1"/>
        </p:nvSpPr>
        <p:spPr>
          <a:xfrm flipH="1">
            <a:off x="9802343" y="-2"/>
            <a:ext cx="2396478" cy="6858001"/>
          </a:xfrm>
          <a:prstGeom prst="rtTriangle">
            <a:avLst/>
          </a:prstGeom>
          <a:gradFill flip="none" rotWithShape="1">
            <a:gsLst>
              <a:gs pos="0">
                <a:schemeClr val="bg1">
                  <a:lumMod val="100000"/>
                  <a:alpha val="85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アイコン&#10;&#10;中程度の精度で自動的に生成された説明">
            <a:extLst>
              <a:ext uri="{FF2B5EF4-FFF2-40B4-BE49-F238E27FC236}">
                <a16:creationId xmlns:a16="http://schemas.microsoft.com/office/drawing/2014/main" id="{D451F1FB-F3B4-1D97-95B2-ACDA034DF3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048" y="6342631"/>
            <a:ext cx="1387084" cy="206671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AFD890B-8035-34CA-E374-CB6FAEAFE595}"/>
              </a:ext>
            </a:extLst>
          </p:cNvPr>
          <p:cNvSpPr>
            <a:spLocks/>
          </p:cNvSpPr>
          <p:nvPr userDrawn="1"/>
        </p:nvSpPr>
        <p:spPr>
          <a:xfrm>
            <a:off x="859369" y="867678"/>
            <a:ext cx="10477325" cy="5110270"/>
          </a:xfrm>
          <a:prstGeom prst="rect">
            <a:avLst/>
          </a:prstGeom>
          <a:gradFill>
            <a:gsLst>
              <a:gs pos="0">
                <a:srgbClr val="215F99"/>
              </a:gs>
              <a:gs pos="100000">
                <a:srgbClr val="203A66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203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8B70CAB1-C63E-1DEB-F3CF-A7F7CD38AAD7}"/>
              </a:ext>
            </a:extLst>
          </p:cNvPr>
          <p:cNvSpPr/>
          <p:nvPr userDrawn="1"/>
        </p:nvSpPr>
        <p:spPr>
          <a:xfrm rot="10800000" flipV="1">
            <a:off x="9559694" y="867676"/>
            <a:ext cx="1785746" cy="5110270"/>
          </a:xfrm>
          <a:prstGeom prst="rtTriangle">
            <a:avLst/>
          </a:prstGeom>
          <a:gradFill flip="none" rotWithShape="1">
            <a:gsLst>
              <a:gs pos="0">
                <a:schemeClr val="bg1">
                  <a:lumMod val="100000"/>
                  <a:alpha val="85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434072" y="2776538"/>
            <a:ext cx="8982976" cy="646272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章 タイトルの書式設定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5D1F370-AD5F-2E12-5C70-FAC4AD404953}"/>
              </a:ext>
            </a:extLst>
          </p:cNvPr>
          <p:cNvCxnSpPr/>
          <p:nvPr userDrawn="1"/>
        </p:nvCxnSpPr>
        <p:spPr>
          <a:xfrm>
            <a:off x="1295550" y="2776538"/>
            <a:ext cx="0" cy="64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18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8896A-F36F-408D-BD52-6518A9D4976B}" type="datetime1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‹#›</a:t>
            </a:r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894915-1B34-4D91-B302-0DD780FBD65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0B4DDD1-9778-799B-0E24-FAAB7AE9728A}"/>
              </a:ext>
            </a:extLst>
          </p:cNvPr>
          <p:cNvSpPr>
            <a:spLocks/>
          </p:cNvSpPr>
          <p:nvPr userDrawn="1"/>
        </p:nvSpPr>
        <p:spPr>
          <a:xfrm>
            <a:off x="0" y="1"/>
            <a:ext cx="12191999" cy="6858000"/>
          </a:xfrm>
          <a:prstGeom prst="rect">
            <a:avLst/>
          </a:prstGeom>
          <a:gradFill flip="none" rotWithShape="1">
            <a:gsLst>
              <a:gs pos="0">
                <a:srgbClr val="215F99"/>
              </a:gs>
              <a:gs pos="100000">
                <a:srgbClr val="203A66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51040AAF-76B3-A1BC-FA10-5328841EA540}"/>
              </a:ext>
            </a:extLst>
          </p:cNvPr>
          <p:cNvSpPr/>
          <p:nvPr userDrawn="1"/>
        </p:nvSpPr>
        <p:spPr>
          <a:xfrm flipH="1">
            <a:off x="9802343" y="-2"/>
            <a:ext cx="2396478" cy="6858001"/>
          </a:xfrm>
          <a:prstGeom prst="rtTriangle">
            <a:avLst/>
          </a:prstGeom>
          <a:gradFill flip="none" rotWithShape="1">
            <a:gsLst>
              <a:gs pos="0">
                <a:schemeClr val="bg1">
                  <a:lumMod val="100000"/>
                  <a:alpha val="85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 descr="アイコン&#10;&#10;中程度の精度で自動的に生成された説明">
            <a:extLst>
              <a:ext uri="{FF2B5EF4-FFF2-40B4-BE49-F238E27FC236}">
                <a16:creationId xmlns:a16="http://schemas.microsoft.com/office/drawing/2014/main" id="{D451F1FB-F3B4-1D97-95B2-ACDA034DF3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048" y="6342631"/>
            <a:ext cx="1387084" cy="206671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AFD890B-8035-34CA-E374-CB6FAEAFE595}"/>
              </a:ext>
            </a:extLst>
          </p:cNvPr>
          <p:cNvSpPr>
            <a:spLocks/>
          </p:cNvSpPr>
          <p:nvPr userDrawn="1"/>
        </p:nvSpPr>
        <p:spPr>
          <a:xfrm>
            <a:off x="859369" y="867678"/>
            <a:ext cx="10477325" cy="5110270"/>
          </a:xfrm>
          <a:prstGeom prst="rect">
            <a:avLst/>
          </a:prstGeom>
          <a:gradFill>
            <a:gsLst>
              <a:gs pos="0">
                <a:srgbClr val="215F99"/>
              </a:gs>
              <a:gs pos="100000">
                <a:srgbClr val="203A66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203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>
            <a:extLst>
              <a:ext uri="{FF2B5EF4-FFF2-40B4-BE49-F238E27FC236}">
                <a16:creationId xmlns:a16="http://schemas.microsoft.com/office/drawing/2014/main" id="{8B70CAB1-C63E-1DEB-F3CF-A7F7CD38AAD7}"/>
              </a:ext>
            </a:extLst>
          </p:cNvPr>
          <p:cNvSpPr/>
          <p:nvPr userDrawn="1"/>
        </p:nvSpPr>
        <p:spPr>
          <a:xfrm rot="10800000" flipV="1">
            <a:off x="9559694" y="867676"/>
            <a:ext cx="1785746" cy="5110270"/>
          </a:xfrm>
          <a:prstGeom prst="rtTriangle">
            <a:avLst/>
          </a:prstGeom>
          <a:gradFill flip="none" rotWithShape="1">
            <a:gsLst>
              <a:gs pos="0">
                <a:schemeClr val="bg1">
                  <a:lumMod val="100000"/>
                  <a:alpha val="85000"/>
                </a:schemeClr>
              </a:gs>
              <a:gs pos="100000">
                <a:schemeClr val="bg1"/>
              </a:gs>
            </a:gsLst>
            <a:lin ang="27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434072" y="2083359"/>
            <a:ext cx="8982976" cy="1339451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章 タイトルの</a:t>
            </a:r>
            <a:br>
              <a:rPr kumimoji="1" lang="en-US" altLang="ja-JP" dirty="0"/>
            </a:br>
            <a:r>
              <a:rPr kumimoji="1" lang="ja-JP" altLang="en-US" dirty="0"/>
              <a:t>書式設定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05D1F370-AD5F-2E12-5C70-FAC4AD404953}"/>
              </a:ext>
            </a:extLst>
          </p:cNvPr>
          <p:cNvCxnSpPr/>
          <p:nvPr userDrawn="1"/>
        </p:nvCxnSpPr>
        <p:spPr>
          <a:xfrm>
            <a:off x="1295550" y="2083359"/>
            <a:ext cx="0" cy="12697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62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最終ページ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42" b="7910"/>
          <a:stretch/>
        </p:blipFill>
        <p:spPr>
          <a:xfrm>
            <a:off x="0" y="0"/>
            <a:ext cx="12192927" cy="6894095"/>
          </a:xfrm>
          <a:prstGeom prst="rect">
            <a:avLst/>
          </a:prstGeom>
        </p:spPr>
      </p:pic>
      <p:sp>
        <p:nvSpPr>
          <p:cNvPr id="17" name="正方形/長方形 16"/>
          <p:cNvSpPr/>
          <p:nvPr userDrawn="1"/>
        </p:nvSpPr>
        <p:spPr>
          <a:xfrm>
            <a:off x="6385502" y="5676349"/>
            <a:ext cx="491798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ja-JP" alt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東京都港区海岸</a:t>
            </a:r>
            <a:r>
              <a:rPr lang="en-US" altLang="ja-JP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3-20-20</a:t>
            </a:r>
            <a:r>
              <a:rPr lang="ja-JP" alt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 ヨコソーレインボータワー</a:t>
            </a:r>
            <a:r>
              <a:rPr lang="en-US" altLang="ja-JP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4</a:t>
            </a:r>
            <a:r>
              <a:rPr lang="ja-JP" alt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階</a:t>
            </a:r>
            <a:endParaRPr lang="en-US" altLang="ja-JP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n-ea"/>
              <a:ea typeface="+mn-ea"/>
              <a:cs typeface="メイリオ" pitchFamily="50" charset="-128"/>
            </a:endParaRPr>
          </a:p>
          <a:p>
            <a:pPr algn="ctr">
              <a:defRPr/>
            </a:pPr>
            <a:r>
              <a:rPr lang="en-US" altLang="ja-JP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TEL:03-5418-8500(</a:t>
            </a:r>
            <a:r>
              <a:rPr lang="ja-JP" altLang="en-US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代表</a:t>
            </a:r>
            <a:r>
              <a:rPr lang="en-US" altLang="ja-JP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)</a:t>
            </a:r>
          </a:p>
          <a:p>
            <a:pPr algn="ctr">
              <a:defRPr/>
            </a:pPr>
            <a:r>
              <a:rPr lang="en-US" altLang="ja-JP" sz="14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https://www.techvan.co.jp/</a:t>
            </a:r>
          </a:p>
        </p:txBody>
      </p:sp>
      <p:pic>
        <p:nvPicPr>
          <p:cNvPr id="18" name="図 1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769" y="240790"/>
            <a:ext cx="1337454" cy="198000"/>
          </a:xfrm>
          <a:prstGeom prst="rect">
            <a:avLst/>
          </a:prstGeom>
        </p:spPr>
      </p:pic>
      <p:sp>
        <p:nvSpPr>
          <p:cNvPr id="8" name="正方形/長方形 7"/>
          <p:cNvSpPr/>
          <p:nvPr userDrawn="1"/>
        </p:nvSpPr>
        <p:spPr>
          <a:xfrm>
            <a:off x="0" y="2852074"/>
            <a:ext cx="12192000" cy="1015663"/>
          </a:xfrm>
          <a:prstGeom prst="rect">
            <a:avLst/>
          </a:prstGeom>
          <a:solidFill>
            <a:srgbClr val="0070C0">
              <a:alpha val="39000"/>
            </a:srgbClr>
          </a:solidFill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ja-JP" sz="6000" b="1" dirty="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Thank you</a:t>
            </a:r>
          </a:p>
        </p:txBody>
      </p:sp>
      <p:sp>
        <p:nvSpPr>
          <p:cNvPr id="3" name="正方形/長方形 2"/>
          <p:cNvSpPr/>
          <p:nvPr userDrawn="1"/>
        </p:nvSpPr>
        <p:spPr>
          <a:xfrm>
            <a:off x="7828833" y="5292155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ja-JP" altLang="en-US" sz="18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  <a:ea typeface="+mj-ea"/>
                <a:cs typeface="メイリオ" pitchFamily="50" charset="-128"/>
              </a:rPr>
              <a:t>テクバン株式会社</a:t>
            </a:r>
            <a:endParaRPr lang="en-US" altLang="ja-JP" sz="1800" dirty="0">
              <a:ln>
                <a:solidFill>
                  <a:schemeClr val="bg1"/>
                </a:solidFill>
              </a:ln>
              <a:solidFill>
                <a:schemeClr val="bg1"/>
              </a:solidFill>
              <a:latin typeface="+mn-lt"/>
              <a:ea typeface="+mj-ea"/>
              <a:cs typeface="メイリオ" pitchFamily="50" charset="-128"/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 userDrawn="1"/>
        </p:nvSpPr>
        <p:spPr bwMode="auto">
          <a:xfrm>
            <a:off x="0" y="6650284"/>
            <a:ext cx="1219199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r>
              <a:rPr lang="en-US" altLang="ja-JP" sz="900" b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rPr>
              <a:t>Copyright(C) TechVan Co,Ltd</a:t>
            </a:r>
            <a:endParaRPr lang="en-US" altLang="ja-JP" sz="900" b="0" dirty="0">
              <a:solidFill>
                <a:schemeClr val="bg1"/>
              </a:solidFill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57006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CHVAN 本文（ラベル付き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直角三角形 5"/>
          <p:cNvSpPr/>
          <p:nvPr userDrawn="1"/>
        </p:nvSpPr>
        <p:spPr>
          <a:xfrm flipH="1">
            <a:off x="11853308" y="5895948"/>
            <a:ext cx="336182" cy="962052"/>
          </a:xfrm>
          <a:prstGeom prst="rtTriangle">
            <a:avLst/>
          </a:prstGeom>
          <a:gradFill>
            <a:gsLst>
              <a:gs pos="0">
                <a:schemeClr val="tx2">
                  <a:lumMod val="90000"/>
                  <a:lumOff val="1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/>
          <p:cNvSpPr txBox="1"/>
          <p:nvPr userDrawn="1"/>
        </p:nvSpPr>
        <p:spPr>
          <a:xfrm>
            <a:off x="11882464" y="6490778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35894915-1B34-4D91-B302-0DD780FBD655}" type="slidenum">
              <a:rPr kumimoji="1" lang="ja-JP" altLang="en-US" sz="1200" smtClean="0">
                <a:solidFill>
                  <a:schemeClr val="bg1"/>
                </a:solidFill>
              </a:rPr>
              <a:pPr algn="ctr"/>
              <a:t>‹#›</a:t>
            </a:fld>
            <a:endParaRPr kumimoji="1" lang="ja-JP" altLang="en-US" sz="1200" dirty="0">
              <a:solidFill>
                <a:schemeClr val="bg1"/>
              </a:solidFill>
            </a:endParaRPr>
          </a:p>
        </p:txBody>
      </p:sp>
      <p:grpSp>
        <p:nvGrpSpPr>
          <p:cNvPr id="42" name="グループ化 41"/>
          <p:cNvGrpSpPr/>
          <p:nvPr userDrawn="1"/>
        </p:nvGrpSpPr>
        <p:grpSpPr>
          <a:xfrm>
            <a:off x="9151581" y="6568644"/>
            <a:ext cx="2606046" cy="205710"/>
            <a:chOff x="8928119" y="6540069"/>
            <a:chExt cx="2606046" cy="205710"/>
          </a:xfrm>
        </p:grpSpPr>
        <p:pic>
          <p:nvPicPr>
            <p:cNvPr id="43" name="図 42" descr="アイコン&#10;&#10;中程度の精度で自動的に生成された説明"/>
            <p:cNvPicPr>
              <a:picLocks noChangeAspect="1"/>
            </p:cNvPicPr>
            <p:nvPr/>
          </p:nvPicPr>
          <p:blipFill>
            <a:blip r:embed="rId1" cstate="hqprint"/>
            <a:stretch>
              <a:fillRect/>
            </a:stretch>
          </p:blipFill>
          <p:spPr>
            <a:xfrm>
              <a:off x="10464158" y="6540069"/>
              <a:ext cx="1070007" cy="159428"/>
            </a:xfrm>
            <a:prstGeom prst="rect">
              <a:avLst/>
            </a:prstGeom>
          </p:spPr>
        </p:pic>
        <p:sp>
          <p:nvSpPr>
            <p:cNvPr id="44" name="テキスト ボックス 43"/>
            <p:cNvSpPr txBox="1"/>
            <p:nvPr/>
          </p:nvSpPr>
          <p:spPr>
            <a:xfrm>
              <a:off x="8928119" y="6545724"/>
              <a:ext cx="139814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Copyright(C)</a:t>
              </a:r>
              <a:r>
                <a:rPr kumimoji="1" lang="en-US" altLang="ja-JP" sz="7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TechVan</a:t>
              </a:r>
              <a:r>
                <a:rPr kumimoji="1" lang="en-US" altLang="ja-JP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co., Ltd.</a:t>
              </a:r>
              <a:endParaRPr kumimoji="1" lang="ja-JP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5" name="タイトル 1"/>
          <p:cNvSpPr>
            <a:spLocks noGrp="1"/>
          </p:cNvSpPr>
          <p:nvPr>
            <p:ph type="title"/>
          </p:nvPr>
        </p:nvSpPr>
        <p:spPr>
          <a:xfrm>
            <a:off x="502920" y="512064"/>
            <a:ext cx="11183112" cy="502920"/>
          </a:xfrm>
        </p:spPr>
        <p:txBody>
          <a:bodyPr lIns="0" rIns="0" anchor="ctr">
            <a:normAutofit/>
          </a:bodyPr>
          <a:lstStyle>
            <a:lvl1pPr>
              <a:defRPr sz="2400" b="1">
                <a:solidFill>
                  <a:schemeClr val="tx2">
                    <a:lumMod val="90000"/>
                    <a:lumOff val="10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69CFA4B-8E29-9FDD-9EED-011F58C68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7418B3-C53F-52BF-F5E3-0329B498D0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FB7CAE-EC93-414B-C009-62040C998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B8896A-F36F-408D-BD52-6518A9D4976B}" type="datetime1">
              <a:rPr kumimoji="1" lang="ja-JP" altLang="en-US" smtClean="0"/>
              <a:t>2026/10/13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F722A2-6355-9E66-7702-E40B276C6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kumimoji="1" lang="en-US" altLang="ja-JP"/>
              <a:t>‹#›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A58936-C906-7FC1-4F30-88C2D8D5B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894915-1B34-4D91-B302-0DD780FBD65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417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  <p:sldLayoutId id="2147483663" r:id="rId3"/>
    <p:sldLayoutId id="2147483656" r:id="rId4"/>
    <p:sldLayoutId id="2147483661" r:id="rId5"/>
    <p:sldLayoutId id="2147483662" r:id="rId6"/>
    <p:sldLayoutId id="2147483658" r:id="rId7"/>
    <p:sldLayoutId id="2147483664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8961120" cy="1280160"/>
          </a:xfr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sz="3350" b="1" lang="ja-JP" altLang="en-US">
                <a:solidFill>
                  <a:srgbClr val="194671"/>
                </a:solidFill>
                <a:latin typeface="游ゴシック"/>
                <a:ea typeface="游ゴシック"/>
                <a:cs typeface="游ゴシック"/>
              </a:rPr>
              <a:t>社内ヘルプデスク</a:t>
            </a:r>
          </a:p>
          <a:p>
            <a:pPr algn="ctr">
              <a:lnSpc>
                <a:spcPct val="100000"/>
              </a:lnSpc>
            </a:pPr>
            <a:r>
              <a:rPr sz="3350" b="1" lang="ja-JP" altLang="en-US">
                <a:solidFill>
                  <a:srgbClr val="194671"/>
                </a:solidFill>
                <a:latin typeface="游ゴシック"/>
                <a:ea typeface="游ゴシック"/>
                <a:cs typeface="游ゴシック"/>
              </a:rPr>
              <a:t>改善のご提案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43400" y="196596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400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提 案 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896112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― 夜間帯の待ち時間を半分にする3つの施策 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794760" y="4572000"/>
            <a:ext cx="3017520" cy="0"/>
          </a:xfrm>
          <a:prstGeom prst="line">
            <a:avLst/>
          </a:prstGeom>
          <a:ln w="12700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754880"/>
            <a:ext cx="89611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25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2026年10月</a:t>
            </a:r>
          </a:p>
          <a:p>
            <a:pPr algn="ctr">
              <a:lnSpc>
                <a:spcPct val="140000"/>
              </a:lnSpc>
              <a:spcBef>
                <a:spcPts val="0"/>
              </a:spcBef>
            </a:pPr>
            <a:r>
              <a:rPr sz="125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情報システム部</a:t>
            </a:r>
          </a:p>
        </p:txBody>
      </p:sp>
      <p:sp>
        <p:nvSpPr>
          <p:cNvPr id="7" name="CONFIDENTIAL"/>
          <p:cNvSpPr/>
          <p:nvPr/>
        </p:nvSpPr>
        <p:spPr>
          <a:xfrm>
            <a:off x="822960" y="685800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本日の内容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AGENDA  -  目 次  -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22376" y="1481328"/>
            <a:ext cx="548640" cy="548640"/>
          </a:xfrm>
          <a:prstGeom prst="ellipse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lang="ja-JP" altLang="en-US">
                <a:solidFill>
                  <a:srgbClr val="FFFFFF"/>
                </a:solidFill>
                <a:latin typeface="Arial"/>
                <a:ea typeface="游ゴシック"/>
                <a:cs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35024"/>
            <a:ext cx="274320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現状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34840" y="1499616"/>
            <a:ext cx="0" cy="512063"/>
          </a:xfrm>
          <a:prstGeom prst="line">
            <a:avLst/>
          </a:prstGeom>
          <a:ln w="12700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709160" y="1335024"/>
            <a:ext cx="6760159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問い合わせの件数と対応時間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95728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2578608"/>
            <a:ext cx="548640" cy="548640"/>
          </a:xfrm>
          <a:prstGeom prst="ellipse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lang="ja-JP" altLang="en-US">
                <a:solidFill>
                  <a:srgbClr val="FFFFFF"/>
                </a:solidFill>
                <a:latin typeface="Arial"/>
                <a:ea typeface="游ゴシック"/>
                <a:cs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432304"/>
            <a:ext cx="274320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原因の分析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2596896"/>
            <a:ext cx="0" cy="512064"/>
          </a:xfrm>
          <a:prstGeom prst="line">
            <a:avLst/>
          </a:prstGeom>
          <a:ln w="12700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09160" y="2432304"/>
            <a:ext cx="6760159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対応が長引く理由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93008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2376" y="3675888"/>
            <a:ext cx="548640" cy="548640"/>
          </a:xfrm>
          <a:prstGeom prst="ellipse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lang="ja-JP" altLang="en-US">
                <a:solidFill>
                  <a:srgbClr val="FFFFFF"/>
                </a:solidFill>
                <a:latin typeface="Arial"/>
                <a:ea typeface="游ゴシック"/>
                <a:cs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529584"/>
            <a:ext cx="274320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改善のご提案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34840" y="3694176"/>
            <a:ext cx="0" cy="512064"/>
          </a:xfrm>
          <a:prstGeom prst="line">
            <a:avLst/>
          </a:prstGeom>
          <a:ln w="12700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09160" y="3529584"/>
            <a:ext cx="6760159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施策・日程・体制・費用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90288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2376" y="4773168"/>
            <a:ext cx="548640" cy="548640"/>
          </a:xfrm>
          <a:prstGeom prst="ellipse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lang="ja-JP" altLang="en-US">
                <a:solidFill>
                  <a:srgbClr val="FFFFFF"/>
                </a:solidFill>
                <a:latin typeface="Arial"/>
                <a:ea typeface="游ゴシック"/>
                <a:cs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26864"/>
            <a:ext cx="274320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次のアクション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34840" y="4791456"/>
            <a:ext cx="0" cy="512064"/>
          </a:xfrm>
          <a:prstGeom prst="line">
            <a:avLst/>
          </a:prstGeom>
          <a:ln w="12700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09160" y="4626864"/>
            <a:ext cx="6760159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決めていただきたいこと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マーカー"/>
          <p:cNvSpPr/>
          <p:nvPr/>
        </p:nvSpPr>
        <p:spPr>
          <a:xfrm>
            <a:off x="4741291" y="836081"/>
            <a:ext cx="671830" cy="72557"/>
          </a:xfrm>
          <a:prstGeom prst="roundRect">
            <a:avLst>
              <a:gd name="adj" fmla="val 50000"/>
            </a:avLst>
          </a:prstGeom>
          <a:solidFill>
            <a:srgbClr val="C9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3つの施策で、夜間の待ち時間を</a:t>
            </a:r>
            <a:r>
              <a:rPr sz="2300" b="1" lang="ja-JP" altLang="en-US">
                <a:solidFill>
                  <a:srgbClr val="2E75B6"/>
                </a:solidFill>
                <a:latin typeface="游ゴシック"/>
                <a:ea typeface="游ゴシック"/>
                <a:cs typeface="游ゴシック"/>
              </a:rPr>
              <a:t>半分</a:t>
            </a: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に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SUMMARY  -  要 約  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11185855" cy="1096365"/>
          </a:xfrm>
          <a:prstGeom prst="roundRect">
            <a:avLst>
              <a:gd name="adj" fmla="val 5004"/>
            </a:avLst>
          </a:prstGeom>
          <a:solidFill>
            <a:srgbClr val="EFF4FA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68203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結論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371600"/>
            <a:ext cx="9448495" cy="95006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8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手順の一本化・よくある質問の追加・夜間当番の増員で、夜間の平均待ち時間を48分 から24分 に短縮します。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0845"/>
            <a:ext cx="3557930" cy="1589410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22376" y="2833725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" y="2833725"/>
            <a:ext cx="262524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原因は夜間の人手と手順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6882" y="2650845"/>
            <a:ext cx="3557930" cy="1589410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36338" y="2833725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84978" y="2833725"/>
            <a:ext cx="262524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効果の大きい順に着手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0844" y="2650845"/>
            <a:ext cx="3557930" cy="1589410"/>
          </a:xfrm>
          <a:prstGeom prst="roundRect">
            <a:avLst>
              <a:gd name="adj" fmla="val 3451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0300" y="2833725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8940" y="2833725"/>
            <a:ext cx="262524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初期費用は480万円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3418941"/>
            <a:ext cx="3119018" cy="6567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夜間は担当者2名で、製品ごとの手順書を行き来しています。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338" y="3418941"/>
            <a:ext cx="3119018" cy="6567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費用が小さく効果が大きい施策から、11月に始めます。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300" y="3418941"/>
            <a:ext cx="3119018" cy="6567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年間の運用費は120万円。残業代の削減で2年で回収できます。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651760"/>
            <a:ext cx="6858000" cy="822960"/>
          </a:xfr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sz="4000" b="1" lang="ja-JP" altLang="en-US">
                <a:solidFill>
                  <a:srgbClr val="194671"/>
                </a:solidFill>
                <a:latin typeface="游ゴシック"/>
                <a:ea typeface="游ゴシック"/>
                <a:cs typeface="游ゴシック"/>
              </a:rPr>
              <a:t>01　現状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2044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問い合わせは夜間帯だけが増えている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 spc="200" lang="ja-JP" altLang="en-US">
                <a:solidFill>
                  <a:srgbClr val="8496AB"/>
                </a:solidFill>
                <a:latin typeface="Arial"/>
                <a:ea typeface="游ゴシック"/>
                <a:cs typeface="Arial"/>
              </a:rPr>
              <a:t>-  N o w  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マーカー"/>
          <p:cNvSpPr/>
          <p:nvPr/>
        </p:nvSpPr>
        <p:spPr>
          <a:xfrm>
            <a:off x="4840605" y="836081"/>
            <a:ext cx="765302" cy="72557"/>
          </a:xfrm>
          <a:prstGeom prst="roundRect">
            <a:avLst>
              <a:gd name="adj" fmla="val 50000"/>
            </a:avLst>
          </a:prstGeom>
          <a:solidFill>
            <a:srgbClr val="C9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件数は横ばい、夜間の待ち時間は</a:t>
            </a:r>
            <a:r>
              <a:rPr sz="2300" b="1" lang="ja-JP" altLang="en-US">
                <a:solidFill>
                  <a:srgbClr val="2E75B6"/>
                </a:solidFill>
                <a:latin typeface="游ゴシック"/>
                <a:ea typeface="游ゴシック"/>
                <a:cs typeface="游ゴシック"/>
              </a:rPr>
              <a:t>48分</a:t>
            </a: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に悪化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NOW  -  現 状 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42415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2026年4月〜9月の受付記録を集計しました。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355793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02920" y="1572768"/>
            <a:ext cx="3557930" cy="402336"/>
          </a:xfrm>
          <a:prstGeom prst="round2SameRect">
            <a:avLst>
              <a:gd name="adj1" fmla="val 13636"/>
              <a:gd name="adj2" fmla="val 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問い合わせ件数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20824"/>
            <a:ext cx="3283610" cy="18836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3,240</a:t>
            </a:r>
            <a:r>
              <a:rPr sz="20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31920"/>
            <a:ext cx="319217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前年比+2.1%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6882" y="1572768"/>
            <a:ext cx="355793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>
            <a:off x="4316882" y="1572768"/>
            <a:ext cx="3557930" cy="402336"/>
          </a:xfrm>
          <a:prstGeom prst="round2SameRect">
            <a:avLst>
              <a:gd name="adj1" fmla="val 13636"/>
              <a:gd name="adj2" fmla="val 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夜間の平均待ち時間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4042" y="2020824"/>
            <a:ext cx="3283610" cy="18836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48</a:t>
            </a:r>
            <a:r>
              <a:rPr sz="20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9762" y="3931920"/>
            <a:ext cx="319217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日中は12分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0844" y="1572768"/>
            <a:ext cx="355793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30844" y="1572768"/>
            <a:ext cx="3557930" cy="402336"/>
          </a:xfrm>
          <a:prstGeom prst="round2SameRect">
            <a:avLst>
              <a:gd name="adj1" fmla="val 13636"/>
              <a:gd name="adj2" fmla="val 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満足度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8004" y="2020824"/>
            <a:ext cx="3283610" cy="18836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4.1</a:t>
            </a:r>
            <a:r>
              <a:rPr sz="20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724" y="3931920"/>
            <a:ext cx="319217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5点満点のアンケート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マーカー"/>
          <p:cNvSpPr/>
          <p:nvPr/>
        </p:nvSpPr>
        <p:spPr>
          <a:xfrm>
            <a:off x="4256405" y="836081"/>
            <a:ext cx="858774" cy="72557"/>
          </a:xfrm>
          <a:prstGeom prst="roundRect">
            <a:avLst>
              <a:gd name="adj" fmla="val 50000"/>
            </a:avLst>
          </a:prstGeom>
          <a:solidFill>
            <a:srgbClr val="C9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夜間の問い合わせは、半年で</a:t>
            </a:r>
            <a:r>
              <a:rPr sz="2300" b="1" lang="ja-JP" altLang="en-US">
                <a:solidFill>
                  <a:srgbClr val="2E75B6"/>
                </a:solidFill>
                <a:latin typeface="游ゴシック"/>
                <a:ea typeface="游ゴシック"/>
                <a:cs typeface="游ゴシック"/>
              </a:rPr>
              <a:t>1.5倍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NOW  -  現 状  -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7371892" cy="4965192"/>
          </a:xfrm>
          <a:prstGeom prst="roundRect">
            <a:avLst>
              <a:gd name="adj" fmla="val 1104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4630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（単位：件）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04088" y="1737360"/>
          <a:ext cx="6969556" cy="43251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130844" y="1298448"/>
            <a:ext cx="3557930" cy="3042422"/>
          </a:xfrm>
          <a:prstGeom prst="roundRect">
            <a:avLst>
              <a:gd name="adj" fmla="val 1803"/>
            </a:avLst>
          </a:prstGeom>
          <a:solidFill>
            <a:srgbClr val="EFF4FA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0300" y="1481328"/>
            <a:ext cx="311901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読み取りのポイント</a:t>
            </a:r>
          </a:p>
        </p:txBody>
      </p:sp>
      <p:sp>
        <p:nvSpPr>
          <p:cNvPr id="11" name="Oval 10"/>
          <p:cNvSpPr/>
          <p:nvPr/>
        </p:nvSpPr>
        <p:spPr>
          <a:xfrm>
            <a:off x="8350300" y="1975104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8940" y="2071497"/>
            <a:ext cx="1961949" cy="5287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夜間は半年で1.5倍、日中はほぼ横ばい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350300" y="3020827"/>
            <a:ext cx="3119019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350300" y="3478027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8940" y="3574420"/>
            <a:ext cx="1961949" cy="52870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夜間の増加分の多くはアカウント関連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最も多いのはアカウント関連、全体の約3割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NOW  -  現 状  -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98448"/>
          <a:ext cx="11185854" cy="318211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38543"/>
                <a:gridCol w="980069"/>
                <a:gridCol w="980069"/>
                <a:gridCol w="1960138"/>
                <a:gridCol w="5227035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分類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1946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件数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1946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前年比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1946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平均解決時間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1946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主な内容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19467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アカウント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1,020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-12%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1.2時間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パスワード再設定、ロック解除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PC・周辺機器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780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+8%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3.4時間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故障、プリンター設定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業務システム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640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+15%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3.9時間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操作方法、権限の申請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ネットワーク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430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+4%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2.8時間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VPN接続、無線LAN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その他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370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-3%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1.6時間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ソフトの導入、問い合わせ先の確認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90288"/>
            <a:ext cx="11185855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※ 件数は4月〜9月の合計。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夜間の待ち時間が長い原因は、人手と手順の両方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NOW  -  現 状  -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5733288"/>
            <a:ext cx="11185855" cy="530352"/>
          </a:xfrm>
          <a:prstGeom prst="roundRect">
            <a:avLst>
              <a:gd name="adj" fmla="val 10344"/>
            </a:avLst>
          </a:prstGeom>
          <a:solidFill>
            <a:srgbClr val="194671"/>
          </a:solidFill>
          <a:ln w="12700">
            <a:solidFill>
              <a:srgbClr val="1946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人手の追加と、手順・情報の整理を同時に進める必要があります。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280160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" y="1298448"/>
            <a:ext cx="10536631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夜間の当番は</a:t>
            </a:r>
            <a:r>
              <a:rPr sz="1600" b="1" lang="ja-JP" altLang="en-US">
                <a:solidFill>
                  <a:srgbClr val="2E75B6"/>
                </a:solidFill>
                <a:latin typeface="游ゴシック"/>
                <a:ea typeface="游ゴシック"/>
                <a:cs typeface="游ゴシック"/>
              </a:rPr>
              <a:t>2名</a:t>
            </a: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だけ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1682495"/>
            <a:ext cx="10536631" cy="6781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18〜21時の受付は日中の3割、担当者は日中の1割。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2260053"/>
            <a:ext cx="1118585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02920" y="2525229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543517"/>
            <a:ext cx="10536631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手順書が製品ごとに分かれ、夜間向けの情報も無い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927565"/>
            <a:ext cx="10536631" cy="6781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切り分けに平均42分。夜間に多いアカウント関連の質問も、まだ公開されていません。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利用者の声：夜は「待つしかない」と感じている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NOW  -  現 状  -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5464911" cy="1550212"/>
          </a:xfrm>
          <a:prstGeom prst="roundRect">
            <a:avLst>
              <a:gd name="adj" fmla="val 3539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5349" y="2821228"/>
            <a:ext cx="457748" cy="30175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61" y="0"/>
                </a:moveTo>
                <a:lnTo>
                  <a:pt x="1000" y="0"/>
                </a:lnTo>
                <a:lnTo>
                  <a:pt x="1000" y="90"/>
                </a:lnTo>
                <a:lnTo>
                  <a:pt x="0" y="1000"/>
                </a:lnTo>
                <a:lnTo>
                  <a:pt x="161" y="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15349" y="2821228"/>
            <a:ext cx="457748" cy="301751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61" y="90"/>
                </a:moveTo>
                <a:lnTo>
                  <a:pt x="0" y="1000"/>
                </a:lnTo>
                <a:lnTo>
                  <a:pt x="1000" y="90"/>
                </a:lnTo>
              </a:path>
            </a:pathLst>
          </a:custGeom>
          <a:noFill/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371600"/>
            <a:ext cx="914400" cy="548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8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810512"/>
            <a:ext cx="4843119" cy="7894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夜に問い合わせると、返事が来るまで仕事が止まってしまいます。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32708"/>
            <a:ext cx="566928" cy="566928"/>
          </a:xfrm>
          <a:prstGeom prst="ellipse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2279" y="3306409"/>
            <a:ext cx="396849" cy="39684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90"/>
                </a:moveTo>
                <a:cubicBezTo>
                  <a:pt x="593" y="190"/>
                  <a:pt x="670" y="266"/>
                  <a:pt x="670" y="360"/>
                </a:cubicBezTo>
                <a:cubicBezTo>
                  <a:pt x="670" y="453"/>
                  <a:pt x="593" y="530"/>
                  <a:pt x="500" y="530"/>
                </a:cubicBezTo>
                <a:cubicBezTo>
                  <a:pt x="406" y="530"/>
                  <a:pt x="330" y="453"/>
                  <a:pt x="330" y="360"/>
                </a:cubicBezTo>
                <a:cubicBezTo>
                  <a:pt x="330" y="266"/>
                  <a:pt x="406" y="190"/>
                  <a:pt x="500" y="190"/>
                </a:cubicBezTo>
                <a:close/>
              </a:path>
              <a:path w="1000" h="1000">
                <a:moveTo>
                  <a:pt x="190" y="900"/>
                </a:moveTo>
                <a:cubicBezTo>
                  <a:pt x="190" y="700"/>
                  <a:pt x="330" y="590"/>
                  <a:pt x="500" y="590"/>
                </a:cubicBezTo>
                <a:cubicBezTo>
                  <a:pt x="670" y="590"/>
                  <a:pt x="810" y="700"/>
                  <a:pt x="810" y="9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90472" y="3250996"/>
            <a:ext cx="447735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営業部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3534460"/>
            <a:ext cx="447735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Aさん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1298448"/>
            <a:ext cx="5464911" cy="1550212"/>
          </a:xfrm>
          <a:prstGeom prst="roundRect">
            <a:avLst>
              <a:gd name="adj" fmla="val 3539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36293" y="2821228"/>
            <a:ext cx="457748" cy="30175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61" y="0"/>
                </a:moveTo>
                <a:lnTo>
                  <a:pt x="1000" y="0"/>
                </a:lnTo>
                <a:lnTo>
                  <a:pt x="1000" y="90"/>
                </a:lnTo>
                <a:lnTo>
                  <a:pt x="0" y="1000"/>
                </a:lnTo>
                <a:lnTo>
                  <a:pt x="161" y="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36293" y="2821228"/>
            <a:ext cx="457748" cy="301751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61" y="90"/>
                </a:moveTo>
                <a:lnTo>
                  <a:pt x="0" y="1000"/>
                </a:lnTo>
                <a:lnTo>
                  <a:pt x="1000" y="90"/>
                </a:lnTo>
              </a:path>
            </a:pathLst>
          </a:custGeom>
          <a:noFill/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9895" y="1371600"/>
            <a:ext cx="914400" cy="5486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8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759" y="1810512"/>
            <a:ext cx="4843119" cy="7894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同じ質問を何度もしているので、ページで調べられると助かります。</a:t>
            </a:r>
          </a:p>
        </p:txBody>
      </p:sp>
      <p:sp>
        <p:nvSpPr>
          <p:cNvPr id="19" name="Oval 18"/>
          <p:cNvSpPr/>
          <p:nvPr/>
        </p:nvSpPr>
        <p:spPr>
          <a:xfrm>
            <a:off x="6498183" y="3232708"/>
            <a:ext cx="566928" cy="566928"/>
          </a:xfrm>
          <a:prstGeom prst="ellipse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222" y="3306409"/>
            <a:ext cx="396849" cy="39684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90"/>
                </a:moveTo>
                <a:cubicBezTo>
                  <a:pt x="593" y="190"/>
                  <a:pt x="670" y="266"/>
                  <a:pt x="670" y="360"/>
                </a:cubicBezTo>
                <a:cubicBezTo>
                  <a:pt x="670" y="453"/>
                  <a:pt x="593" y="530"/>
                  <a:pt x="500" y="530"/>
                </a:cubicBezTo>
                <a:cubicBezTo>
                  <a:pt x="406" y="530"/>
                  <a:pt x="330" y="453"/>
                  <a:pt x="330" y="360"/>
                </a:cubicBezTo>
                <a:cubicBezTo>
                  <a:pt x="330" y="266"/>
                  <a:pt x="406" y="190"/>
                  <a:pt x="500" y="190"/>
                </a:cubicBezTo>
                <a:close/>
              </a:path>
              <a:path w="1000" h="1000">
                <a:moveTo>
                  <a:pt x="190" y="900"/>
                </a:moveTo>
                <a:cubicBezTo>
                  <a:pt x="190" y="700"/>
                  <a:pt x="330" y="590"/>
                  <a:pt x="500" y="590"/>
                </a:cubicBezTo>
                <a:cubicBezTo>
                  <a:pt x="670" y="590"/>
                  <a:pt x="810" y="700"/>
                  <a:pt x="810" y="9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11415" y="3250996"/>
            <a:ext cx="4477359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開発部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1415" y="3534460"/>
            <a:ext cx="4477359" cy="2468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Bさん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651760"/>
            <a:ext cx="6858000" cy="822960"/>
          </a:xfr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sz="4000" b="1" lang="ja-JP" altLang="en-US">
                <a:solidFill>
                  <a:srgbClr val="194671"/>
                </a:solidFill>
                <a:latin typeface="游ゴシック"/>
                <a:ea typeface="游ゴシック"/>
                <a:cs typeface="游ゴシック"/>
              </a:rPr>
              <a:t>02　原因の分析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2044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なぜ夜間だけ長くなるのか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 spc="200" lang="ja-JP" altLang="en-US">
                <a:solidFill>
                  <a:srgbClr val="8496AB"/>
                </a:solidFill>
                <a:latin typeface="Arial"/>
                <a:ea typeface="游ゴシック"/>
                <a:cs typeface="Arial"/>
              </a:rPr>
              <a:t>-  W h y  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待ち時間を延ばす原因は、受付・切り分け・回答の3か所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WHY  -  原 因 の 分 析  -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39147" y="1645920"/>
            <a:ext cx="2194560" cy="822960"/>
          </a:xfrm>
          <a:prstGeom prst="roundRect">
            <a:avLst>
              <a:gd name="adj" fmla="val 6666"/>
            </a:avLst>
          </a:prstGeom>
          <a:solidFill>
            <a:srgbClr val="DCE8F5"/>
          </a:solidFill>
          <a:ln w="12700">
            <a:solidFill>
              <a:srgbClr val="B9CDE2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03739" y="1645920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受付までが遅い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73787" y="1298448"/>
            <a:ext cx="5114987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091" y="1298448"/>
            <a:ext cx="48223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当番が2名だけ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73787" y="2103120"/>
            <a:ext cx="5114987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091" y="2103120"/>
            <a:ext cx="48223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電話とチャットが分かれている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33707" y="2057400"/>
            <a:ext cx="320040" cy="0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53747" y="1655064"/>
            <a:ext cx="0" cy="804672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53747" y="1655064"/>
            <a:ext cx="320040" cy="0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253747" y="2459736"/>
            <a:ext cx="320040" cy="0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739147" y="3383280"/>
            <a:ext cx="2194560" cy="822960"/>
          </a:xfrm>
          <a:prstGeom prst="roundRect">
            <a:avLst>
              <a:gd name="adj" fmla="val 6666"/>
            </a:avLst>
          </a:prstGeom>
          <a:solidFill>
            <a:srgbClr val="194671"/>
          </a:solidFill>
          <a:ln w="12700">
            <a:solidFill>
              <a:srgbClr val="194671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3739" y="3383280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切り分けが遅い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73787" y="3035808"/>
            <a:ext cx="5114987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4671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091" y="3035808"/>
            <a:ext cx="48223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手順書が製品ごとに分散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73787" y="3840480"/>
            <a:ext cx="5114987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194671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091" y="3840480"/>
            <a:ext cx="48223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過去の対応が探しにくい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33707" y="3794760"/>
            <a:ext cx="320040" cy="0"/>
          </a:xfrm>
          <a:prstGeom prst="line">
            <a:avLst/>
          </a:prstGeom>
          <a:ln w="25400">
            <a:solidFill>
              <a:srgbClr val="194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53747" y="3392424"/>
            <a:ext cx="0" cy="804672"/>
          </a:xfrm>
          <a:prstGeom prst="line">
            <a:avLst/>
          </a:prstGeom>
          <a:ln w="25400">
            <a:solidFill>
              <a:srgbClr val="194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53747" y="3392424"/>
            <a:ext cx="320040" cy="0"/>
          </a:xfrm>
          <a:prstGeom prst="line">
            <a:avLst/>
          </a:prstGeom>
          <a:ln w="25400">
            <a:solidFill>
              <a:srgbClr val="194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53747" y="4197096"/>
            <a:ext cx="320040" cy="0"/>
          </a:xfrm>
          <a:prstGeom prst="line">
            <a:avLst/>
          </a:prstGeom>
          <a:ln w="25400">
            <a:solidFill>
              <a:srgbClr val="194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739147" y="4773168"/>
            <a:ext cx="2194560" cy="822960"/>
          </a:xfrm>
          <a:prstGeom prst="roundRect">
            <a:avLst>
              <a:gd name="adj" fmla="val 6666"/>
            </a:avLst>
          </a:prstGeom>
          <a:solidFill>
            <a:srgbClr val="DCE8F5"/>
          </a:solidFill>
          <a:ln w="12700">
            <a:solidFill>
              <a:srgbClr val="B9CDE2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3739" y="4773168"/>
            <a:ext cx="1865376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回答が往復する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3787" y="4828032"/>
            <a:ext cx="5114987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091" y="4828032"/>
            <a:ext cx="48223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確認事項が決まっていない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33707" y="5184648"/>
            <a:ext cx="640080" cy="0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" y="3291840"/>
            <a:ext cx="2596147" cy="1005840"/>
          </a:xfrm>
          <a:prstGeom prst="roundRect">
            <a:avLst>
              <a:gd name="adj" fmla="val 5454"/>
            </a:avLst>
          </a:prstGeom>
          <a:solidFill>
            <a:srgbClr val="194671"/>
          </a:solidFill>
          <a:ln w="12700">
            <a:solidFill>
              <a:srgbClr val="194671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291840"/>
            <a:ext cx="2230387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夜間の待ち時間が長い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419107" y="2057400"/>
            <a:ext cx="0" cy="3127248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19107" y="2057400"/>
            <a:ext cx="320040" cy="0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19107" y="5184648"/>
            <a:ext cx="320040" cy="0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099067" y="3794760"/>
            <a:ext cx="640080" cy="0"/>
          </a:xfrm>
          <a:prstGeom prst="line">
            <a:avLst/>
          </a:prstGeom>
          <a:ln w="25400">
            <a:solidFill>
              <a:srgbClr val="1946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対応が長引く理由は、仕組みの側にある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WHY  -  原 因 の 分 析  -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5464911" cy="181801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2376" y="1481328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1016" y="1481328"/>
            <a:ext cx="4532223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手順書が分散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2066543"/>
            <a:ext cx="5025999" cy="885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似た症状でも参照先が異なり、担当者は複数の手順書を行き来しています。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1298448"/>
            <a:ext cx="5464911" cy="181801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43319" y="1481328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1959" y="1481328"/>
            <a:ext cx="4532223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回答テンプレートの不足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319" y="2066543"/>
            <a:ext cx="5025999" cy="885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確認すべき事項が決まっておらず、追加の質問が往復しています。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72490"/>
            <a:ext cx="5464911" cy="181801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" y="3555370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" y="3555370"/>
            <a:ext cx="4532223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履歴が探しにくい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140586"/>
            <a:ext cx="5025999" cy="885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過去の対応記録が自由記述で、同じ事例を探すのに時間がかかります。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3372490"/>
            <a:ext cx="5464911" cy="1818010"/>
          </a:xfrm>
          <a:prstGeom prst="roundRect">
            <a:avLst>
              <a:gd name="adj" fmla="val 3017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3319" y="3555370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1959" y="3555370"/>
            <a:ext cx="4532223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シフトと受付の山のずれ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3319" y="4140586"/>
            <a:ext cx="5025999" cy="8853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夜間の件数増加に、当番の人数が追いついていません。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着手は「効果が大きく、手間が小さい」施策から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WHY  -  原 因 の 分 析  -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069848" y="1353312"/>
            <a:ext cx="0" cy="4562856"/>
          </a:xfrm>
          <a:prstGeom prst="line">
            <a:avLst/>
          </a:prstGeom>
          <a:ln w="22225">
            <a:solidFill>
              <a:srgbClr val="849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" y="5916168"/>
            <a:ext cx="10618927" cy="0"/>
          </a:xfrm>
          <a:prstGeom prst="line">
            <a:avLst/>
          </a:prstGeom>
          <a:ln w="22225">
            <a:solidFill>
              <a:srgbClr val="8496A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86968" y="2967228"/>
            <a:ext cx="365760" cy="1005840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86968" y="2967228"/>
            <a:ext cx="365760" cy="10058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効</a:t>
            </a:r>
          </a:p>
          <a:p>
            <a:pPr algn="ctr">
              <a:lnSpc>
                <a:spcPct val="9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4937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12664"/>
            <a:ext cx="4937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0127" y="5738241"/>
            <a:ext cx="1005840" cy="355854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手間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96188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5735" y="596188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1298448"/>
            <a:ext cx="5007711" cy="2043684"/>
          </a:xfrm>
          <a:prstGeom prst="roundRect">
            <a:avLst>
              <a:gd name="adj" fmla="val 2684"/>
            </a:avLst>
          </a:prstGeom>
          <a:solidFill>
            <a:srgbClr val="DCE8F5"/>
          </a:solidFill>
          <a:ln w="25400">
            <a:solidFill>
              <a:srgbClr val="194671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36776" y="1481328"/>
            <a:ext cx="1071880" cy="355854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すぐやる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36776" y="1946909"/>
            <a:ext cx="4568799" cy="12854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lnSpc>
                <a:spcPct val="105000"/>
              </a:lnSpc>
              <a:spcBef>
                <a:spcPts val="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よくある質問の追加</a:t>
            </a:r>
          </a:p>
          <a:p>
            <a:pPr algn="l" marL="201168" indent="-201168">
              <a:lnSpc>
                <a:spcPct val="105000"/>
              </a:lnSpc>
              <a:spcBef>
                <a:spcPts val="40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回答テンプレート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81063" y="1298448"/>
            <a:ext cx="5007711" cy="2043684"/>
          </a:xfrm>
          <a:prstGeom prst="roundRect">
            <a:avLst>
              <a:gd name="adj" fmla="val 2684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00519" y="1481328"/>
            <a:ext cx="1402080" cy="355854"/>
          </a:xfrm>
          <a:prstGeom prst="roundRect">
            <a:avLst>
              <a:gd name="adj" fmla="val 50000"/>
            </a:avLst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計画してやる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0519" y="1946909"/>
            <a:ext cx="4568799" cy="12854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lnSpc>
                <a:spcPct val="105000"/>
              </a:lnSpc>
              <a:spcBef>
                <a:spcPts val="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手順書の一本化</a:t>
            </a:r>
          </a:p>
          <a:p>
            <a:pPr algn="l" marL="201168" indent="-201168">
              <a:lnSpc>
                <a:spcPct val="105000"/>
              </a:lnSpc>
              <a:spcBef>
                <a:spcPts val="40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夜間当番の増員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17320" y="3598163"/>
            <a:ext cx="5007711" cy="2043684"/>
          </a:xfrm>
          <a:prstGeom prst="roundRect">
            <a:avLst>
              <a:gd name="adj" fmla="val 2684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36776" y="3781044"/>
            <a:ext cx="1402080" cy="355854"/>
          </a:xfrm>
          <a:prstGeom prst="roundRect">
            <a:avLst>
              <a:gd name="adj" fmla="val 50000"/>
            </a:avLst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余力があれば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36776" y="4246625"/>
            <a:ext cx="4568799" cy="12854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lnSpc>
                <a:spcPct val="105000"/>
              </a:lnSpc>
              <a:spcBef>
                <a:spcPts val="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受付時間の案内の改善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81063" y="3598163"/>
            <a:ext cx="5007711" cy="2043684"/>
          </a:xfrm>
          <a:prstGeom prst="roundRect">
            <a:avLst>
              <a:gd name="adj" fmla="val 2684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0519" y="3781044"/>
            <a:ext cx="1567180" cy="355854"/>
          </a:xfrm>
          <a:prstGeom prst="roundRect">
            <a:avLst>
              <a:gd name="adj" fmla="val 50000"/>
            </a:avLst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今回はやらない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0519" y="4246625"/>
            <a:ext cx="4568799" cy="12854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lnSpc>
                <a:spcPct val="105000"/>
              </a:lnSpc>
              <a:spcBef>
                <a:spcPts val="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受付システムの入れ替え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651760"/>
            <a:ext cx="6858000" cy="822960"/>
          </a:xfr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sz="4000" b="1" lang="ja-JP" altLang="en-US">
                <a:solidFill>
                  <a:srgbClr val="194671"/>
                </a:solidFill>
                <a:latin typeface="游ゴシック"/>
                <a:ea typeface="游ゴシック"/>
                <a:cs typeface="游ゴシック"/>
              </a:rPr>
              <a:t>03　改善のご提案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2044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施策・日程・体制・費用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 spc="200" lang="ja-JP" altLang="en-US">
                <a:solidFill>
                  <a:srgbClr val="8496AB"/>
                </a:solidFill>
                <a:latin typeface="Arial"/>
                <a:ea typeface="游ゴシック"/>
                <a:cs typeface="Arial"/>
              </a:rPr>
              <a:t>-  P l a n  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手順の一本化で、切り分けは3段階から1段階に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PLAN  -  改 善 の ご 提 案  -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4998567" cy="2699979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72768"/>
            <a:ext cx="1005840" cy="338328"/>
          </a:xfrm>
          <a:prstGeom prst="roundRect">
            <a:avLst>
              <a:gd name="adj" fmla="val 50000"/>
            </a:avLst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現状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4449927" cy="335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製品ごとに手順書が分かれている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484120"/>
            <a:ext cx="4449927" cy="0"/>
          </a:xfrm>
          <a:prstGeom prst="line">
            <a:avLst/>
          </a:prstGeom>
          <a:ln w="9525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593848"/>
            <a:ext cx="4449927" cy="11668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lnSpc>
                <a:spcPct val="108000"/>
              </a:lnSpc>
              <a:spcBef>
                <a:spcPts val="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4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症状から手順書を探す</a:t>
            </a:r>
          </a:p>
          <a:p>
            <a:pPr algn="l" marL="201168" indent="-201168">
              <a:lnSpc>
                <a:spcPct val="108000"/>
              </a:lnSpc>
              <a:spcBef>
                <a:spcPts val="60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4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製品ごとに確認方法が違う</a:t>
            </a:r>
          </a:p>
          <a:p>
            <a:pPr algn="l" marL="201168" indent="-201168">
              <a:lnSpc>
                <a:spcPct val="108000"/>
              </a:lnSpc>
              <a:spcBef>
                <a:spcPts val="60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4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切り分けに平均42分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90207" y="1298448"/>
            <a:ext cx="4998567" cy="2699979"/>
          </a:xfrm>
          <a:prstGeom prst="roundRect">
            <a:avLst>
              <a:gd name="adj" fmla="val 2032"/>
            </a:avLst>
          </a:prstGeom>
          <a:solidFill>
            <a:srgbClr val="DCE8F5"/>
          </a:solidFill>
          <a:ln w="25400">
            <a:solidFill>
              <a:srgbClr val="194671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64527" y="1572768"/>
            <a:ext cx="1005840" cy="338328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改善後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4527" y="2039112"/>
            <a:ext cx="4449927" cy="335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症状から1つの手順に入る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64527" y="2484120"/>
            <a:ext cx="4449928" cy="0"/>
          </a:xfrm>
          <a:prstGeom prst="line">
            <a:avLst/>
          </a:prstGeom>
          <a:ln w="9525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64527" y="2593848"/>
            <a:ext cx="4449927" cy="116683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lnSpc>
                <a:spcPct val="108000"/>
              </a:lnSpc>
              <a:spcBef>
                <a:spcPts val="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4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症状の一覧から1つの手順に入る</a:t>
            </a:r>
          </a:p>
          <a:p>
            <a:pPr algn="l" marL="201168" indent="-201168">
              <a:lnSpc>
                <a:spcPct val="108000"/>
              </a:lnSpc>
              <a:spcBef>
                <a:spcPts val="60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4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切り分けは15分 以内</a:t>
            </a:r>
          </a:p>
        </p:txBody>
      </p:sp>
      <p:sp>
        <p:nvSpPr>
          <p:cNvPr id="15" name="Chevron 14"/>
          <p:cNvSpPr/>
          <p:nvPr/>
        </p:nvSpPr>
        <p:spPr>
          <a:xfrm>
            <a:off x="5858103" y="2054077"/>
            <a:ext cx="475488" cy="786384"/>
          </a:xfrm>
          <a:prstGeom prst="chevron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6351" y="2913613"/>
            <a:ext cx="107899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94671"/>
                </a:solidFill>
                <a:latin typeface="游ゴシック"/>
                <a:ea typeface="游ゴシック"/>
                <a:cs typeface="游ゴシック"/>
              </a:rPr>
              <a:t>一本化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費用と効果のバランスは、B案（段階導入）が最良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PLAN  -  改 善 の ご 提 案  -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10530" y="1440179"/>
            <a:ext cx="3198266" cy="4823459"/>
          </a:xfrm>
          <a:prstGeom prst="roundRect">
            <a:avLst>
              <a:gd name="adj" fmla="val 1715"/>
            </a:avLst>
          </a:prstGeom>
          <a:solidFill>
            <a:srgbClr val="DCE8F5"/>
          </a:solidFill>
          <a:ln w="12700">
            <a:noFill/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30552" y="1627631"/>
            <a:ext cx="3015386" cy="801624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67712" y="1755648"/>
            <a:ext cx="2741066" cy="2804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A案：一括導入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2090928"/>
            <a:ext cx="27410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全社で一度に効果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1970" y="1627631"/>
            <a:ext cx="3015386" cy="801624"/>
          </a:xfrm>
          <a:prstGeom prst="roundRect">
            <a:avLst>
              <a:gd name="adj" fmla="val 6844"/>
            </a:avLst>
          </a:prstGeom>
          <a:solidFill>
            <a:srgbClr val="194671"/>
          </a:solidFill>
          <a:ln w="12700">
            <a:solidFill>
              <a:srgbClr val="194671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9130" y="1755648"/>
            <a:ext cx="2741066" cy="2804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B案：段階導入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9130" y="2090928"/>
            <a:ext cx="27410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2期に分けて導入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3388" y="1627631"/>
            <a:ext cx="3015386" cy="801624"/>
          </a:xfrm>
          <a:prstGeom prst="roundRect">
            <a:avLst>
              <a:gd name="adj" fmla="val 6844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10548" y="1755648"/>
            <a:ext cx="2741066" cy="2804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C案：現状維持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0548" y="2090928"/>
            <a:ext cx="27410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費用はかからない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20695"/>
            <a:ext cx="1280160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効果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3409568"/>
            <a:ext cx="1118585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30552" y="2520695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1970" y="2520695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73388" y="2520695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09568"/>
            <a:ext cx="1280160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費用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4298441"/>
            <a:ext cx="1118585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30552" y="3409568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1970" y="3409568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3388" y="3409568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8441"/>
            <a:ext cx="1280160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期間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5187314"/>
            <a:ext cx="1118585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130552" y="4298441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1970" y="4298441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3388" y="4298441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87314"/>
            <a:ext cx="1280160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現場の負担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02920" y="6076187"/>
            <a:ext cx="1118585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30552" y="5187314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1970" y="5187314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3388" y="5187314"/>
            <a:ext cx="3015386" cy="8888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10530" y="1440179"/>
            <a:ext cx="3198266" cy="4823459"/>
          </a:xfrm>
          <a:prstGeom prst="roundRect">
            <a:avLst>
              <a:gd name="adj" fmla="val 1715"/>
            </a:avLst>
          </a:prstGeom>
          <a:noFill/>
          <a:ln w="25400">
            <a:solidFill>
              <a:srgbClr val="1946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61023" y="1298447"/>
            <a:ext cx="1097280" cy="283464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おすすめ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4つのステップ、3か月で全社に展開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PLAN  -  改 善 の ご 提 案  -</a:t>
            </a:r>
          </a:p>
        </p:txBody>
      </p:sp>
      <p:sp>
        <p:nvSpPr>
          <p:cNvPr id="5" name="Pentagon 4"/>
          <p:cNvSpPr/>
          <p:nvPr/>
        </p:nvSpPr>
        <p:spPr>
          <a:xfrm>
            <a:off x="502920" y="1298448"/>
            <a:ext cx="2604439" cy="512064"/>
          </a:xfrm>
          <a:prstGeom prst="homePlate">
            <a:avLst>
              <a:gd name="adj" fmla="val 42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7986" y="1298448"/>
            <a:ext cx="2174306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10月</a:t>
            </a:r>
          </a:p>
        </p:txBody>
      </p:sp>
      <p:sp>
        <p:nvSpPr>
          <p:cNvPr id="7" name="Chevron 6"/>
          <p:cNvSpPr/>
          <p:nvPr/>
        </p:nvSpPr>
        <p:spPr>
          <a:xfrm>
            <a:off x="3363391" y="1298448"/>
            <a:ext cx="2604439" cy="512064"/>
          </a:xfrm>
          <a:prstGeom prst="chevron">
            <a:avLst>
              <a:gd name="adj" fmla="val 42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78458" y="1298448"/>
            <a:ext cx="2174306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11月</a:t>
            </a:r>
          </a:p>
        </p:txBody>
      </p:sp>
      <p:sp>
        <p:nvSpPr>
          <p:cNvPr id="9" name="Chevron 8"/>
          <p:cNvSpPr/>
          <p:nvPr/>
        </p:nvSpPr>
        <p:spPr>
          <a:xfrm>
            <a:off x="6223863" y="1298448"/>
            <a:ext cx="2604439" cy="512064"/>
          </a:xfrm>
          <a:prstGeom prst="chevron">
            <a:avLst>
              <a:gd name="adj" fmla="val 42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8930" y="1298448"/>
            <a:ext cx="2174306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12月</a:t>
            </a:r>
          </a:p>
        </p:txBody>
      </p:sp>
      <p:sp>
        <p:nvSpPr>
          <p:cNvPr id="11" name="Chevron 10"/>
          <p:cNvSpPr/>
          <p:nvPr/>
        </p:nvSpPr>
        <p:spPr>
          <a:xfrm>
            <a:off x="9084335" y="1298448"/>
            <a:ext cx="2604439" cy="512064"/>
          </a:xfrm>
          <a:prstGeom prst="chevron">
            <a:avLst>
              <a:gd name="adj" fmla="val 42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9402" y="1298448"/>
            <a:ext cx="2174306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93392"/>
            <a:ext cx="2604439" cy="1814962"/>
          </a:xfrm>
          <a:prstGeom prst="roundRect">
            <a:avLst>
              <a:gd name="adj" fmla="val 302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157984"/>
            <a:ext cx="2238679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1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32304"/>
            <a:ext cx="2238679" cy="31699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現状調査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840736"/>
            <a:ext cx="2238679" cy="0"/>
          </a:xfrm>
          <a:prstGeom prst="line">
            <a:avLst/>
          </a:prstGeom>
          <a:ln w="9525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" y="2950464"/>
            <a:ext cx="2238679" cy="5469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受付記録を分析し、夜間に多い質問を洗い出す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3391" y="1993392"/>
            <a:ext cx="2604439" cy="1814962"/>
          </a:xfrm>
          <a:prstGeom prst="roundRect">
            <a:avLst>
              <a:gd name="adj" fmla="val 302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6271" y="2157984"/>
            <a:ext cx="2238679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1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6271" y="2432304"/>
            <a:ext cx="2238679" cy="31699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手順の一本化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46271" y="2840736"/>
            <a:ext cx="2238680" cy="0"/>
          </a:xfrm>
          <a:prstGeom prst="line">
            <a:avLst/>
          </a:prstGeom>
          <a:ln w="9525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546271" y="2950464"/>
            <a:ext cx="2238679" cy="5469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症状から入る手順書を作り、担当者で試す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3863" y="1993392"/>
            <a:ext cx="2604439" cy="1814962"/>
          </a:xfrm>
          <a:prstGeom prst="roundRect">
            <a:avLst>
              <a:gd name="adj" fmla="val 302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6743" y="2157984"/>
            <a:ext cx="2238679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1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STEP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6743" y="2432304"/>
            <a:ext cx="2238679" cy="31699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試行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6743" y="2840736"/>
            <a:ext cx="2238680" cy="0"/>
          </a:xfrm>
          <a:prstGeom prst="line">
            <a:avLst/>
          </a:prstGeom>
          <a:ln w="9525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6743" y="2950464"/>
            <a:ext cx="2238679" cy="5469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夜間帯で試し、待ち時間を毎週はかる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84335" y="1993392"/>
            <a:ext cx="2604439" cy="1814962"/>
          </a:xfrm>
          <a:prstGeom prst="roundRect">
            <a:avLst>
              <a:gd name="adj" fmla="val 302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7215" y="2157984"/>
            <a:ext cx="2238679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1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215" y="2432304"/>
            <a:ext cx="2238679" cy="31699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全社展開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67215" y="2840736"/>
            <a:ext cx="2238680" cy="0"/>
          </a:xfrm>
          <a:prstGeom prst="line">
            <a:avLst/>
          </a:prstGeom>
          <a:ln w="9525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267215" y="2950464"/>
            <a:ext cx="2238679" cy="5469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効果を確認し、日中の受付にも広げる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10月に準備、12月に試行、2月に全社へ展開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PLAN  -  改 善 の ご 提 案  -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5855" cy="347472"/>
          </a:xfrm>
          <a:prstGeom prst="rect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298448"/>
            <a:ext cx="1755648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タスク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51176" y="1298448"/>
            <a:ext cx="1304544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担当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9728" y="1298448"/>
            <a:ext cx="1504431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10月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9023" y="1298448"/>
            <a:ext cx="1504431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11月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38319" y="1298448"/>
            <a:ext cx="1504431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12月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7615" y="1298448"/>
            <a:ext cx="1504431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1月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6911" y="1298448"/>
            <a:ext cx="1504431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2月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45919"/>
            <a:ext cx="11185855" cy="676656"/>
          </a:xfrm>
          <a:prstGeom prst="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322576"/>
            <a:ext cx="11185855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99232"/>
            <a:ext cx="11185855" cy="676656"/>
          </a:xfrm>
          <a:prstGeom prst="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75887"/>
            <a:ext cx="11185855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352544"/>
            <a:ext cx="11185855" cy="676656"/>
          </a:xfrm>
          <a:prstGeom prst="rect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029200"/>
            <a:ext cx="11185855" cy="676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02920" y="2322576"/>
            <a:ext cx="11185855" cy="0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2920" y="2999232"/>
            <a:ext cx="11185855" cy="0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2920" y="3675887"/>
            <a:ext cx="11185855" cy="0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" y="4352544"/>
            <a:ext cx="11185855" cy="0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2920" y="5029200"/>
            <a:ext cx="11185855" cy="0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" y="5705855"/>
            <a:ext cx="11185855" cy="0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51591" y="1645919"/>
            <a:ext cx="0" cy="4059936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10887" y="1645919"/>
            <a:ext cx="0" cy="4059936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0183" y="1645919"/>
            <a:ext cx="0" cy="4059936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129479" y="1645919"/>
            <a:ext cx="0" cy="4059936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514600" y="1645919"/>
            <a:ext cx="0" cy="4059936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92296" y="1645919"/>
            <a:ext cx="0" cy="4059936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02920" y="1645919"/>
            <a:ext cx="0" cy="4059936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688775" y="1645919"/>
            <a:ext cx="0" cy="4059936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0936" y="1645919"/>
            <a:ext cx="175564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現状調査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9464" y="1645919"/>
            <a:ext cx="126796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情報システム部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65448" y="1837943"/>
            <a:ext cx="1412991" cy="292608"/>
          </a:xfrm>
          <a:prstGeom prst="roundRect">
            <a:avLst>
              <a:gd name="adj" fmla="val 35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" y="2322576"/>
            <a:ext cx="175564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よくある質問の追加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9464" y="2322576"/>
            <a:ext cx="126796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ヘルプデスク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65448" y="2514600"/>
            <a:ext cx="2972287" cy="292608"/>
          </a:xfrm>
          <a:prstGeom prst="roundRect">
            <a:avLst>
              <a:gd name="adj" fmla="val 35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2999232"/>
            <a:ext cx="175564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手順書の一本化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9464" y="2999232"/>
            <a:ext cx="126796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ヘルプデスク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24743" y="3191256"/>
            <a:ext cx="2972287" cy="292608"/>
          </a:xfrm>
          <a:prstGeom prst="roundRect">
            <a:avLst>
              <a:gd name="adj" fmla="val 35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" y="3675887"/>
            <a:ext cx="175564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夜間当番の増員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9464" y="3675887"/>
            <a:ext cx="126796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人事部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24743" y="3867911"/>
            <a:ext cx="1412991" cy="292608"/>
          </a:xfrm>
          <a:prstGeom prst="roundRect">
            <a:avLst>
              <a:gd name="adj" fmla="val 35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" y="4352544"/>
            <a:ext cx="175564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夜間の試行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9464" y="4352544"/>
            <a:ext cx="126796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運用チーム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84039" y="4544568"/>
            <a:ext cx="2972287" cy="292608"/>
          </a:xfrm>
          <a:prstGeom prst="roundRect">
            <a:avLst>
              <a:gd name="adj" fmla="val 35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" y="5029200"/>
            <a:ext cx="175564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全社展開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9464" y="5029200"/>
            <a:ext cx="126796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5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情報システム部</a:t>
            </a:r>
          </a:p>
        </p:txBody>
      </p:sp>
      <p:sp>
        <p:nvSpPr>
          <p:cNvPr id="50" name="Diamond 49"/>
          <p:cNvSpPr/>
          <p:nvPr/>
        </p:nvSpPr>
        <p:spPr>
          <a:xfrm>
            <a:off x="10735391" y="5193792"/>
            <a:ext cx="347472" cy="347472"/>
          </a:xfrm>
          <a:prstGeom prst="diamond">
            <a:avLst/>
          </a:prstGeom>
          <a:solidFill>
            <a:srgbClr val="2E75B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3チーム・9名の体制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PLAN  -  改 善 の ご 提 案  -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94252" y="1298448"/>
            <a:ext cx="3803190" cy="914400"/>
          </a:xfrm>
          <a:prstGeom prst="roundRect">
            <a:avLst>
              <a:gd name="adj" fmla="val 6000"/>
            </a:avLst>
          </a:prstGeom>
          <a:solidFill>
            <a:srgbClr val="194671"/>
          </a:solidFill>
          <a:ln w="12700">
            <a:solidFill>
              <a:srgbClr val="194671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450284" y="1499616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27093" y="1566184"/>
            <a:ext cx="358444" cy="3584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90"/>
                </a:moveTo>
                <a:cubicBezTo>
                  <a:pt x="593" y="190"/>
                  <a:pt x="670" y="266"/>
                  <a:pt x="670" y="360"/>
                </a:cubicBezTo>
                <a:cubicBezTo>
                  <a:pt x="670" y="453"/>
                  <a:pt x="593" y="530"/>
                  <a:pt x="500" y="530"/>
                </a:cubicBezTo>
                <a:cubicBezTo>
                  <a:pt x="406" y="530"/>
                  <a:pt x="330" y="453"/>
                  <a:pt x="330" y="360"/>
                </a:cubicBezTo>
                <a:cubicBezTo>
                  <a:pt x="330" y="266"/>
                  <a:pt x="406" y="190"/>
                  <a:pt x="500" y="190"/>
                </a:cubicBezTo>
                <a:close/>
              </a:path>
              <a:path w="1000" h="1000">
                <a:moveTo>
                  <a:pt x="190" y="900"/>
                </a:moveTo>
                <a:cubicBezTo>
                  <a:pt x="190" y="700"/>
                  <a:pt x="330" y="590"/>
                  <a:pt x="500" y="590"/>
                </a:cubicBezTo>
                <a:cubicBezTo>
                  <a:pt x="670" y="590"/>
                  <a:pt x="810" y="700"/>
                  <a:pt x="810" y="900"/>
                </a:cubicBezTo>
                <a:close/>
              </a:path>
            </a:pathLst>
          </a:cu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45228" y="1431988"/>
            <a:ext cx="2632758" cy="257175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プロジェクト責任者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5228" y="1689163"/>
            <a:ext cx="2632758" cy="3901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情報システム部長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" y="2212848"/>
            <a:ext cx="0" cy="283464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1885" y="2496312"/>
            <a:ext cx="7627925" cy="0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81885" y="2496312"/>
            <a:ext cx="0" cy="283464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5847" y="2496312"/>
            <a:ext cx="0" cy="283464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09810" y="2496312"/>
            <a:ext cx="0" cy="283464"/>
          </a:xfrm>
          <a:prstGeom prst="line">
            <a:avLst/>
          </a:prstGeom>
          <a:ln w="1905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2920" y="2779776"/>
            <a:ext cx="3557930" cy="2141181"/>
          </a:xfrm>
          <a:prstGeom prst="roundRect">
            <a:avLst>
              <a:gd name="adj" fmla="val 256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>
            <a:off x="502920" y="2779776"/>
            <a:ext cx="3557930" cy="402336"/>
          </a:xfrm>
          <a:prstGeom prst="round2SameRect">
            <a:avLst>
              <a:gd name="adj1" fmla="val 13636"/>
              <a:gd name="adj2" fmla="val 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調査チーム</a:t>
            </a:r>
          </a:p>
        </p:txBody>
      </p:sp>
      <p:sp>
        <p:nvSpPr>
          <p:cNvPr id="17" name="Oval 16"/>
          <p:cNvSpPr/>
          <p:nvPr/>
        </p:nvSpPr>
        <p:spPr>
          <a:xfrm>
            <a:off x="2053285" y="3364992"/>
            <a:ext cx="457200" cy="457200"/>
          </a:xfrm>
          <a:prstGeom prst="ellipse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21865" y="3424428"/>
            <a:ext cx="320040" cy="320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90"/>
                </a:moveTo>
                <a:cubicBezTo>
                  <a:pt x="593" y="190"/>
                  <a:pt x="670" y="266"/>
                  <a:pt x="670" y="360"/>
                </a:cubicBezTo>
                <a:cubicBezTo>
                  <a:pt x="670" y="453"/>
                  <a:pt x="593" y="530"/>
                  <a:pt x="500" y="530"/>
                </a:cubicBezTo>
                <a:cubicBezTo>
                  <a:pt x="406" y="530"/>
                  <a:pt x="330" y="453"/>
                  <a:pt x="330" y="360"/>
                </a:cubicBezTo>
                <a:cubicBezTo>
                  <a:pt x="330" y="266"/>
                  <a:pt x="406" y="190"/>
                  <a:pt x="500" y="190"/>
                </a:cubicBezTo>
                <a:close/>
              </a:path>
              <a:path w="1000" h="1000">
                <a:moveTo>
                  <a:pt x="190" y="900"/>
                </a:moveTo>
                <a:cubicBezTo>
                  <a:pt x="190" y="700"/>
                  <a:pt x="330" y="590"/>
                  <a:pt x="500" y="590"/>
                </a:cubicBezTo>
                <a:cubicBezTo>
                  <a:pt x="670" y="590"/>
                  <a:pt x="810" y="700"/>
                  <a:pt x="810" y="900"/>
                </a:cubicBezTo>
                <a:close/>
              </a:path>
            </a:pathLst>
          </a:cu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13632"/>
            <a:ext cx="319217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3名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70299" y="4315968"/>
            <a:ext cx="1423172" cy="0"/>
          </a:xfrm>
          <a:prstGeom prst="line">
            <a:avLst/>
          </a:prstGeom>
          <a:ln w="12700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4407407"/>
            <a:ext cx="3192170" cy="4038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受付記録の分析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6882" y="2779776"/>
            <a:ext cx="3557930" cy="2141181"/>
          </a:xfrm>
          <a:prstGeom prst="roundRect">
            <a:avLst>
              <a:gd name="adj" fmla="val 256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4316882" y="2779776"/>
            <a:ext cx="3557930" cy="402336"/>
          </a:xfrm>
          <a:prstGeom prst="round2SameRect">
            <a:avLst>
              <a:gd name="adj1" fmla="val 13636"/>
              <a:gd name="adj2" fmla="val 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手順チーム</a:t>
            </a:r>
          </a:p>
        </p:txBody>
      </p:sp>
      <p:sp>
        <p:nvSpPr>
          <p:cNvPr id="24" name="Oval 23"/>
          <p:cNvSpPr/>
          <p:nvPr/>
        </p:nvSpPr>
        <p:spPr>
          <a:xfrm>
            <a:off x="5867247" y="3364992"/>
            <a:ext cx="457200" cy="457200"/>
          </a:xfrm>
          <a:prstGeom prst="ellipse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35827" y="3424428"/>
            <a:ext cx="320040" cy="320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90"/>
                </a:moveTo>
                <a:cubicBezTo>
                  <a:pt x="593" y="190"/>
                  <a:pt x="670" y="266"/>
                  <a:pt x="670" y="360"/>
                </a:cubicBezTo>
                <a:cubicBezTo>
                  <a:pt x="670" y="453"/>
                  <a:pt x="593" y="530"/>
                  <a:pt x="500" y="530"/>
                </a:cubicBezTo>
                <a:cubicBezTo>
                  <a:pt x="406" y="530"/>
                  <a:pt x="330" y="453"/>
                  <a:pt x="330" y="360"/>
                </a:cubicBezTo>
                <a:cubicBezTo>
                  <a:pt x="330" y="266"/>
                  <a:pt x="406" y="190"/>
                  <a:pt x="500" y="190"/>
                </a:cubicBezTo>
                <a:close/>
              </a:path>
              <a:path w="1000" h="1000">
                <a:moveTo>
                  <a:pt x="190" y="900"/>
                </a:moveTo>
                <a:cubicBezTo>
                  <a:pt x="190" y="700"/>
                  <a:pt x="330" y="590"/>
                  <a:pt x="500" y="590"/>
                </a:cubicBezTo>
                <a:cubicBezTo>
                  <a:pt x="670" y="590"/>
                  <a:pt x="810" y="700"/>
                  <a:pt x="810" y="900"/>
                </a:cubicBezTo>
                <a:close/>
              </a:path>
            </a:pathLst>
          </a:cu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9762" y="3913632"/>
            <a:ext cx="319217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4名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84261" y="4315968"/>
            <a:ext cx="1423172" cy="0"/>
          </a:xfrm>
          <a:prstGeom prst="line">
            <a:avLst/>
          </a:prstGeom>
          <a:ln w="12700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99762" y="4407407"/>
            <a:ext cx="3192170" cy="4038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手順書・よくある質問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0844" y="2779776"/>
            <a:ext cx="3557930" cy="2141181"/>
          </a:xfrm>
          <a:prstGeom prst="roundRect">
            <a:avLst>
              <a:gd name="adj" fmla="val 2562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>
            <a:off x="8130844" y="2779776"/>
            <a:ext cx="3557930" cy="402336"/>
          </a:xfrm>
          <a:prstGeom prst="round2SameRect">
            <a:avLst>
              <a:gd name="adj1" fmla="val 13636"/>
              <a:gd name="adj2" fmla="val 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運用チーム</a:t>
            </a:r>
          </a:p>
        </p:txBody>
      </p:sp>
      <p:sp>
        <p:nvSpPr>
          <p:cNvPr id="31" name="Oval 30"/>
          <p:cNvSpPr/>
          <p:nvPr/>
        </p:nvSpPr>
        <p:spPr>
          <a:xfrm>
            <a:off x="9681210" y="3364992"/>
            <a:ext cx="457200" cy="457200"/>
          </a:xfrm>
          <a:prstGeom prst="ellipse">
            <a:avLst/>
          </a:prstGeom>
          <a:solidFill>
            <a:srgbClr val="EF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49790" y="3424428"/>
            <a:ext cx="320040" cy="320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500" y="190"/>
                </a:moveTo>
                <a:cubicBezTo>
                  <a:pt x="593" y="190"/>
                  <a:pt x="670" y="266"/>
                  <a:pt x="670" y="360"/>
                </a:cubicBezTo>
                <a:cubicBezTo>
                  <a:pt x="670" y="453"/>
                  <a:pt x="593" y="530"/>
                  <a:pt x="500" y="530"/>
                </a:cubicBezTo>
                <a:cubicBezTo>
                  <a:pt x="406" y="530"/>
                  <a:pt x="330" y="453"/>
                  <a:pt x="330" y="360"/>
                </a:cubicBezTo>
                <a:cubicBezTo>
                  <a:pt x="330" y="266"/>
                  <a:pt x="406" y="190"/>
                  <a:pt x="500" y="190"/>
                </a:cubicBezTo>
                <a:close/>
              </a:path>
              <a:path w="1000" h="1000">
                <a:moveTo>
                  <a:pt x="190" y="900"/>
                </a:moveTo>
                <a:cubicBezTo>
                  <a:pt x="190" y="700"/>
                  <a:pt x="330" y="590"/>
                  <a:pt x="500" y="590"/>
                </a:cubicBezTo>
                <a:cubicBezTo>
                  <a:pt x="670" y="590"/>
                  <a:pt x="810" y="700"/>
                  <a:pt x="810" y="900"/>
                </a:cubicBezTo>
                <a:close/>
              </a:path>
            </a:pathLst>
          </a:cu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13724" y="3913632"/>
            <a:ext cx="319217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2名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98223" y="4315968"/>
            <a:ext cx="1423173" cy="0"/>
          </a:xfrm>
          <a:prstGeom prst="line">
            <a:avLst/>
          </a:prstGeom>
          <a:ln w="12700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13724" y="4407407"/>
            <a:ext cx="3192170" cy="40382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夜間当番・効果の測定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マーカー"/>
          <p:cNvSpPr/>
          <p:nvPr/>
        </p:nvSpPr>
        <p:spPr>
          <a:xfrm>
            <a:off x="1919605" y="836081"/>
            <a:ext cx="1250188" cy="72557"/>
          </a:xfrm>
          <a:prstGeom prst="roundRect">
            <a:avLst>
              <a:gd name="adj" fmla="val 50000"/>
            </a:avLst>
          </a:prstGeom>
          <a:solidFill>
            <a:srgbClr val="C9D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初期費用は</a:t>
            </a:r>
            <a:r>
              <a:rPr sz="2300" b="1" lang="ja-JP" altLang="en-US">
                <a:solidFill>
                  <a:srgbClr val="2E75B6"/>
                </a:solidFill>
                <a:latin typeface="游ゴシック"/>
                <a:ea typeface="游ゴシック"/>
                <a:cs typeface="游ゴシック"/>
              </a:rPr>
              <a:t>480万円</a:t>
            </a: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、年間の運用費は120万円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E02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PLAN  -  改 善 の ご 提 案  -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7371891" cy="3182112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420621"/>
                <a:gridCol w="3300847"/>
                <a:gridCol w="1650423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項目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1946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内容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19467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FFFFFF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金額（万円）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19467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受付記録の分析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1か月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60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手順書の一本化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2か月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240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よくある質問の作成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20件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80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EFF4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チャット受付の設定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既存の仕組みを利用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0" lang="ja-JP" altLang="en-US">
                          <a:solidFill>
                            <a:srgbClr val="44546A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100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初期費用 合計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DCE8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200" b="1" lang="ja-JP" altLang="en-US">
                          <a:solidFill>
                            <a:srgbClr val="1F4E79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480</a:t>
                      </a: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8E2EE"/>
                      </a:solidFill>
                    </a:lnL>
                    <a:lnR w="9525" cap="flat" cmpd="sng" algn="ctr">
                      <a:solidFill>
                        <a:srgbClr val="D8E2EE"/>
                      </a:solidFill>
                    </a:lnR>
                    <a:lnT w="9525" cap="flat" cmpd="sng" algn="ctr">
                      <a:solidFill>
                        <a:srgbClr val="D8E2EE"/>
                      </a:solidFill>
                    </a:lnT>
                    <a:lnB w="9525" cap="flat" cmpd="sng" algn="ctr">
                      <a:solidFill>
                        <a:srgbClr val="D8E2EE"/>
                      </a:solidFill>
                    </a:lnB>
                    <a:solidFill>
                      <a:srgbClr val="DCE8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30844" y="1298448"/>
            <a:ext cx="3557930" cy="1624888"/>
          </a:xfrm>
          <a:prstGeom prst="roundRect">
            <a:avLst>
              <a:gd name="adj" fmla="val 3376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8130844" y="1298448"/>
            <a:ext cx="3557930" cy="402336"/>
          </a:xfrm>
          <a:prstGeom prst="round2SameRect">
            <a:avLst>
              <a:gd name="adj1" fmla="val 13636"/>
              <a:gd name="adj2" fmla="val 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初期費用 合計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8004" y="1737360"/>
            <a:ext cx="3283610" cy="10945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480</a:t>
            </a:r>
            <a:r>
              <a:rPr sz="2000" b="1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0844" y="3142792"/>
            <a:ext cx="3557930" cy="1337767"/>
          </a:xfrm>
          <a:prstGeom prst="roundRect">
            <a:avLst>
              <a:gd name="adj" fmla="val 4101"/>
            </a:avLst>
          </a:prstGeom>
          <a:solidFill>
            <a:srgbClr val="EFF4FA"/>
          </a:solidFill>
          <a:ln w="12700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2012" y="3289096"/>
            <a:ext cx="3155594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前提・注記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2012" y="3636568"/>
            <a:ext cx="3155594" cy="715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01168" indent="-201168">
              <a:lnSpc>
                <a:spcPct val="105000"/>
              </a:lnSpc>
              <a:spcBef>
                <a:spcPts val="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2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金額は税抜き・概算</a:t>
            </a:r>
          </a:p>
          <a:p>
            <a:pPr algn="l" marL="201168" indent="-201168">
              <a:lnSpc>
                <a:spcPct val="105000"/>
              </a:lnSpc>
              <a:spcBef>
                <a:spcPts val="300"/>
              </a:spcBef>
              <a:buClr>
                <a:srgbClr val="194671"/>
              </a:buClr>
              <a:buSzPct val="100000"/>
              <a:buFont typeface="Arial"/>
              <a:buChar char="・"/>
            </a:pPr>
            <a:r>
              <a:rPr sz="12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運用費（年間120万円）は別途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主なリスクは2つ。どちらも事前の対策で抑えられる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PLAN  -  改 善 の ご 提 案 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12984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影響度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8216" y="1298448"/>
            <a:ext cx="328024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リスク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5661" y="1298448"/>
            <a:ext cx="4174857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対策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3399" y="12984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担当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19"/>
            <a:ext cx="11185855" cy="1188720"/>
          </a:xfrm>
          <a:prstGeom prst="roundRect">
            <a:avLst>
              <a:gd name="adj" fmla="val 4615"/>
            </a:avLst>
          </a:prstGeom>
          <a:solidFill>
            <a:srgbClr val="DCE8F5"/>
          </a:solidFill>
          <a:ln w="15875">
            <a:solidFill>
              <a:srgbClr val="194671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" y="2071115"/>
            <a:ext cx="658368" cy="338328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28216" y="1700784"/>
            <a:ext cx="3188805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移行期間に現場の負担が増える</a:t>
            </a:r>
          </a:p>
        </p:txBody>
      </p:sp>
      <p:sp>
        <p:nvSpPr>
          <p:cNvPr id="12" name="Chevron 11"/>
          <p:cNvSpPr/>
          <p:nvPr/>
        </p:nvSpPr>
        <p:spPr>
          <a:xfrm>
            <a:off x="5145621" y="2103120"/>
            <a:ext cx="182880" cy="274320"/>
          </a:xfrm>
          <a:prstGeom prst="chevron">
            <a:avLst/>
          </a:prstGeom>
          <a:solidFill>
            <a:srgbClr val="84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20525" y="1700784"/>
            <a:ext cx="4065129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移行期間は当番を1名追加する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3399" y="1700784"/>
            <a:ext cx="1554480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情報システム部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017520"/>
            <a:ext cx="11185855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3442715"/>
            <a:ext cx="658368" cy="33832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28216" y="3072384"/>
            <a:ext cx="3188805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新しい手順書が使われない</a:t>
            </a:r>
          </a:p>
        </p:txBody>
      </p:sp>
      <p:sp>
        <p:nvSpPr>
          <p:cNvPr id="18" name="Chevron 17"/>
          <p:cNvSpPr/>
          <p:nvPr/>
        </p:nvSpPr>
        <p:spPr>
          <a:xfrm>
            <a:off x="5145621" y="3474720"/>
            <a:ext cx="182880" cy="274320"/>
          </a:xfrm>
          <a:prstGeom prst="chevron">
            <a:avLst/>
          </a:prstGeom>
          <a:solidFill>
            <a:srgbClr val="849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20525" y="3072384"/>
            <a:ext cx="4065129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試行期間に担当者の意見を反映する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3399" y="3072384"/>
            <a:ext cx="1554480" cy="107899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ヘルプデスク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651760"/>
            <a:ext cx="6858000" cy="822960"/>
          </a:xfr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sz="4000" b="1" lang="ja-JP" altLang="en-US">
                <a:solidFill>
                  <a:srgbClr val="194671"/>
                </a:solidFill>
                <a:latin typeface="游ゴシック"/>
                <a:ea typeface="游ゴシック"/>
                <a:cs typeface="游ゴシック"/>
              </a:rPr>
              <a:t>04　次のアクション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520440"/>
            <a:ext cx="68580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準備の状況と、決めていただきたいこと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 spc="200" lang="ja-JP" altLang="en-US">
                <a:solidFill>
                  <a:srgbClr val="8496AB"/>
                </a:solidFill>
                <a:latin typeface="Arial"/>
                <a:ea typeface="游ゴシック"/>
                <a:cs typeface="Arial"/>
              </a:rPr>
              <a:t>-  N e x t  -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準備は5件中4件が順調、1件は人員の手当てが必要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NEXT  -  次 の ア ク シ ョ ン  -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832103" cy="338328"/>
          </a:xfrm>
          <a:prstGeom prst="roundRect">
            <a:avLst>
              <a:gd name="adj" fmla="val 50000"/>
            </a:avLst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全5件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39" y="1298448"/>
            <a:ext cx="935736" cy="338328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完了1件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8504" y="1298448"/>
            <a:ext cx="1088136" cy="33832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進行中2件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6367" y="1298448"/>
            <a:ext cx="935736" cy="338328"/>
          </a:xfrm>
          <a:prstGeom prst="roundRect">
            <a:avLst>
              <a:gd name="adj" fmla="val 50000"/>
            </a:avLst>
          </a:prstGeom>
          <a:solidFill>
            <a:srgbClr val="A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遅延1件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1832" y="1298448"/>
            <a:ext cx="1088136" cy="338328"/>
          </a:xfrm>
          <a:prstGeom prst="roundRect">
            <a:avLst>
              <a:gd name="adj" fmla="val 50000"/>
            </a:avLst>
          </a:prstGeom>
          <a:solidFill>
            <a:srgbClr val="D8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未着手1件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837943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状況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1095" y="1837943"/>
            <a:ext cx="2108094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項目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2070" y="183794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進捗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8070" y="183794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担当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5430" y="1837943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期限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6990" y="1837943"/>
            <a:ext cx="228376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備考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2148839"/>
            <a:ext cx="11185855" cy="0"/>
          </a:xfrm>
          <a:prstGeom prst="line">
            <a:avLst/>
          </a:prstGeom>
          <a:ln w="12700">
            <a:solidFill>
              <a:srgbClr val="8496A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2318003"/>
            <a:ext cx="987552" cy="338328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完了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1095" y="2148839"/>
            <a:ext cx="2108094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よくある質問の追加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2070" y="2414015"/>
            <a:ext cx="1463039" cy="146304"/>
          </a:xfrm>
          <a:prstGeom prst="roundRect">
            <a:avLst>
              <a:gd name="adj" fmla="val 50000"/>
            </a:avLst>
          </a:prstGeom>
          <a:solidFill>
            <a:srgbClr val="D8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2070" y="2414015"/>
            <a:ext cx="1463040" cy="146304"/>
          </a:xfrm>
          <a:prstGeom prst="roundRect">
            <a:avLst>
              <a:gd name="adj" fmla="val 50000"/>
            </a:avLst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38262" y="2148839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8070" y="2148839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ヘルプデスク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5430" y="2148839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Arial"/>
                <a:ea typeface="游ゴシック"/>
                <a:cs typeface="Arial"/>
              </a:rPr>
              <a:t>10/31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2825496"/>
            <a:ext cx="1118585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2994660"/>
            <a:ext cx="987552" cy="33832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進行中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1095" y="2825496"/>
            <a:ext cx="2108094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受付記録の分析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2070" y="3090672"/>
            <a:ext cx="1463039" cy="146304"/>
          </a:xfrm>
          <a:prstGeom prst="roundRect">
            <a:avLst>
              <a:gd name="adj" fmla="val 50000"/>
            </a:avLst>
          </a:prstGeom>
          <a:solidFill>
            <a:srgbClr val="D8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202070" y="3090672"/>
            <a:ext cx="1024127" cy="14630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38262" y="2825496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8070" y="2825496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調査チーム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5430" y="2825496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Arial"/>
                <a:ea typeface="游ゴシック"/>
                <a:cs typeface="Arial"/>
              </a:rPr>
              <a:t>11/10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3502152"/>
            <a:ext cx="1118585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5800" y="3671316"/>
            <a:ext cx="987552" cy="33832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進行中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1095" y="3502152"/>
            <a:ext cx="2108094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手順書の下書き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2070" y="3767328"/>
            <a:ext cx="1463039" cy="146304"/>
          </a:xfrm>
          <a:prstGeom prst="roundRect">
            <a:avLst>
              <a:gd name="adj" fmla="val 50000"/>
            </a:avLst>
          </a:prstGeom>
          <a:solidFill>
            <a:srgbClr val="D8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02070" y="3767328"/>
            <a:ext cx="585215" cy="14630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38262" y="3502152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88070" y="3502152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手順チーム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5430" y="3502152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Arial"/>
                <a:ea typeface="游ゴシック"/>
                <a:cs typeface="Arial"/>
              </a:rPr>
              <a:t>11/30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206240"/>
            <a:ext cx="11185855" cy="621792"/>
          </a:xfrm>
          <a:prstGeom prst="roundRect">
            <a:avLst>
              <a:gd name="adj" fmla="val 8823"/>
            </a:avLst>
          </a:prstGeom>
          <a:solidFill>
            <a:srgbClr val="DCE8F5"/>
          </a:solidFill>
          <a:ln w="15875">
            <a:solidFill>
              <a:srgbClr val="A33A3A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" y="4347972"/>
            <a:ext cx="987552" cy="338328"/>
          </a:xfrm>
          <a:prstGeom prst="roundRect">
            <a:avLst>
              <a:gd name="adj" fmla="val 50000"/>
            </a:avLst>
          </a:prstGeom>
          <a:solidFill>
            <a:srgbClr val="A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遅延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11095" y="4178808"/>
            <a:ext cx="2108094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夜間当番の増員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2070" y="4443984"/>
            <a:ext cx="1463039" cy="146304"/>
          </a:xfrm>
          <a:prstGeom prst="roundRect">
            <a:avLst>
              <a:gd name="adj" fmla="val 50000"/>
            </a:avLst>
          </a:prstGeom>
          <a:solidFill>
            <a:srgbClr val="D8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02070" y="4443984"/>
            <a:ext cx="438911" cy="146304"/>
          </a:xfrm>
          <a:prstGeom prst="roundRect">
            <a:avLst>
              <a:gd name="adj" fmla="val 50000"/>
            </a:avLst>
          </a:prstGeom>
          <a:solidFill>
            <a:srgbClr val="A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38262" y="4178808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30%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88070" y="4178808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人事部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5430" y="4178808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Arial"/>
                <a:ea typeface="游ゴシック"/>
                <a:cs typeface="Arial"/>
              </a:rPr>
              <a:t>11/15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76990" y="4178808"/>
            <a:ext cx="228376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A33A3A"/>
                </a:solidFill>
                <a:latin typeface="游ゴシック"/>
                <a:ea typeface="游ゴシック"/>
                <a:cs typeface="游ゴシック"/>
              </a:rPr>
              <a:t>候補者を調整中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5024628"/>
            <a:ext cx="987552" cy="338328"/>
          </a:xfrm>
          <a:prstGeom prst="roundRect">
            <a:avLst>
              <a:gd name="adj" fmla="val 50000"/>
            </a:avLst>
          </a:prstGeom>
          <a:solidFill>
            <a:srgbClr val="D8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未着手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11095" y="4855464"/>
            <a:ext cx="2108094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効果の測定方法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02070" y="5120640"/>
            <a:ext cx="1463039" cy="146304"/>
          </a:xfrm>
          <a:prstGeom prst="roundRect">
            <a:avLst>
              <a:gd name="adj" fmla="val 50000"/>
            </a:avLst>
          </a:prstGeom>
          <a:solidFill>
            <a:srgbClr val="D8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38262" y="4855464"/>
            <a:ext cx="566928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88070" y="4855464"/>
            <a:ext cx="15544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運用チーム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5430" y="4855464"/>
            <a:ext cx="868680" cy="6766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0" lang="ja-JP" altLang="en-US">
                <a:solidFill>
                  <a:srgbClr val="44546A"/>
                </a:solidFill>
                <a:latin typeface="Arial"/>
                <a:ea typeface="游ゴシック"/>
                <a:cs typeface="Arial"/>
              </a:rPr>
              <a:t>12/1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11月の部会で決めていただきたい3点</a:t>
            </a:r>
          </a:p>
        </p:txBody>
      </p:sp>
      <p:sp>
        <p:nvSpPr>
          <p:cNvPr id="3" name="CONFIDENTIAL"/>
          <p:cNvSpPr/>
          <p:nvPr/>
        </p:nvSpPr>
        <p:spPr>
          <a:xfrm>
            <a:off x="9905695" y="155448"/>
            <a:ext cx="1783080" cy="347472"/>
          </a:xfrm>
          <a:prstGeom prst="rect">
            <a:avLst/>
          </a:prstGeom>
          <a:solidFill>
            <a:srgbClr val="FFFFFF"/>
          </a:solidFill>
          <a:ln w="25400">
            <a:solidFill>
              <a:srgbClr val="E026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spc="50" lang="ja-JP" altLang="en-US">
                <a:solidFill>
                  <a:srgbClr val="E0262D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921989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NEXT  -  次 の ア ク シ ョ ン 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0744" y="1298448"/>
            <a:ext cx="7336231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アクション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45575" y="12984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担当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129844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期限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19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22376" y="1892807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1682495"/>
            <a:ext cx="7336231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B案（段階導入）での実施を承認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45575" y="1847088"/>
            <a:ext cx="0" cy="512063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08615" y="1847088"/>
            <a:ext cx="0" cy="512063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15145" y="1947672"/>
            <a:ext cx="723900" cy="310896"/>
          </a:xfrm>
          <a:prstGeom prst="roundRect">
            <a:avLst>
              <a:gd name="adj" fmla="val 50000"/>
            </a:avLst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部会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1682495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2E75B6"/>
                </a:solidFill>
                <a:latin typeface="Arial"/>
                <a:ea typeface="游ゴシック"/>
                <a:cs typeface="Arial"/>
              </a:rPr>
              <a:t>11/12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4320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2376" y="2990088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0744" y="2779776"/>
            <a:ext cx="7336231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夜間当番の増員（1名）を決定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45575" y="2944368"/>
            <a:ext cx="0" cy="512064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408615" y="2944368"/>
            <a:ext cx="0" cy="512064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48470" y="3044952"/>
            <a:ext cx="857250" cy="310896"/>
          </a:xfrm>
          <a:prstGeom prst="roundRect">
            <a:avLst>
              <a:gd name="adj" fmla="val 50000"/>
            </a:avLst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人事部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00055" y="2779776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2E75B6"/>
                </a:solidFill>
                <a:latin typeface="Arial"/>
                <a:ea typeface="游ゴシック"/>
                <a:cs typeface="Arial"/>
              </a:rPr>
              <a:t>11/15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4048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376" y="4087368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744" y="4029456"/>
            <a:ext cx="7336231" cy="298704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初期費用480万円の予算を確保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744" y="4355592"/>
            <a:ext cx="733623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lang="ja-JP" altLang="en-US">
                <a:solidFill>
                  <a:srgbClr val="5F6F84"/>
                </a:solidFill>
                <a:latin typeface="游ゴシック"/>
                <a:ea typeface="游ゴシック"/>
                <a:cs typeface="游ゴシック"/>
              </a:rPr>
              <a:t>下期の予備費から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45575" y="4041648"/>
            <a:ext cx="0" cy="512064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408615" y="4041648"/>
            <a:ext cx="0" cy="512064"/>
          </a:xfrm>
          <a:prstGeom prst="line">
            <a:avLst/>
          </a:prstGeom>
          <a:ln w="9525">
            <a:solidFill>
              <a:srgbClr val="D8E2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15120" y="4142232"/>
            <a:ext cx="1123949" cy="310896"/>
          </a:xfrm>
          <a:prstGeom prst="roundRect">
            <a:avLst>
              <a:gd name="adj" fmla="val 50000"/>
            </a:avLst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05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経営企画部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00055" y="3877056"/>
            <a:ext cx="1097280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2E75B6"/>
                </a:solidFill>
                <a:latin typeface="Arial"/>
                <a:ea typeface="游ゴシック"/>
                <a:cs typeface="Arial"/>
              </a:rPr>
              <a:t>11/30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よくあるご質問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NEXT  -  参 考  -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298448"/>
            <a:ext cx="420624" cy="420624"/>
          </a:xfrm>
          <a:prstGeom prst="ellipse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FFFFFF"/>
                </a:solidFill>
                <a:latin typeface="Arial"/>
                <a:ea typeface="游ゴシック"/>
                <a:cs typeface="Arial"/>
              </a:rPr>
              <a:t>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368552"/>
            <a:ext cx="10545775" cy="350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日中の受付も変わりますか？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1810512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906905"/>
            <a:ext cx="10545775" cy="3653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1月以降、効果を確かめてから日中にも同じ手順を広げます。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619679"/>
            <a:ext cx="1118585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2920" y="2985439"/>
            <a:ext cx="420624" cy="420624"/>
          </a:xfrm>
          <a:prstGeom prst="ellipse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FFFFFF"/>
                </a:solidFill>
                <a:latin typeface="Arial"/>
                <a:ea typeface="游ゴシック"/>
                <a:cs typeface="Arial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55543"/>
            <a:ext cx="10545775" cy="350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チャットだけになりますか？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3497503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93896"/>
            <a:ext cx="10545775" cy="3653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電話の受付は続けます。定型の質問だけをチャットで先に受けます。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4306671"/>
            <a:ext cx="1118585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02920" y="4672431"/>
            <a:ext cx="420624" cy="420624"/>
          </a:xfrm>
          <a:prstGeom prst="ellipse">
            <a:avLst/>
          </a:prstGeom>
          <a:solidFill>
            <a:srgbClr val="194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FFFFFF"/>
                </a:solidFill>
                <a:latin typeface="Arial"/>
                <a:ea typeface="游ゴシック"/>
                <a:cs typeface="Arial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742535"/>
            <a:ext cx="10545775" cy="350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夜間の当番は誰が担当しますか？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84495"/>
            <a:ext cx="420624" cy="420624"/>
          </a:xfrm>
          <a:prstGeom prst="ellipse">
            <a:avLst/>
          </a:prstGeom>
          <a:solidFill>
            <a:srgbClr val="EFF4FA"/>
          </a:solidFill>
          <a:ln w="9525">
            <a:solidFill>
              <a:srgbClr val="B9CD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80888"/>
            <a:ext cx="10545775" cy="3653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交代制とし、担当した人には手当を出します。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l">
              <a:lnSpc>
                <a:spcPct val="100000"/>
              </a:lnSpc>
            </a:pPr>
            <a:r>
              <a:rPr sz="23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注記および出典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050" b="1" spc="300" lang="ja-JP" altLang="en-US">
                <a:solidFill>
                  <a:srgbClr val="194671"/>
                </a:solidFill>
                <a:latin typeface="Arial"/>
                <a:ea typeface="游ゴシック"/>
                <a:cs typeface="Arial"/>
              </a:rPr>
              <a:t>NEXT  -  参 考  -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98448"/>
            <a:ext cx="11185855" cy="1616811"/>
          </a:xfrm>
          <a:prstGeom prst="roundRect">
            <a:avLst>
              <a:gd name="adj" fmla="val 3393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99616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注記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502920" cy="2278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※1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10134295" cy="2871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本資料は見本です。数値・組織名はすべて架空のものです。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2280589"/>
            <a:ext cx="1063721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390317"/>
            <a:ext cx="502920" cy="2278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※2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90317"/>
            <a:ext cx="10134295" cy="2871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待ち時間は受付から担当者が最初に返信するまでの時間です。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71291"/>
            <a:ext cx="11185855" cy="1616811"/>
          </a:xfrm>
          <a:prstGeom prst="roundRect">
            <a:avLst>
              <a:gd name="adj" fmla="val 3393"/>
            </a:avLst>
          </a:prstGeom>
          <a:solidFill>
            <a:srgbClr val="FFFFFF"/>
          </a:solidFill>
          <a:ln w="12700">
            <a:solidFill>
              <a:srgbClr val="D8E2EE"/>
            </a:solidFill>
          </a:ln>
          <a:effectLst>
            <a:outerShdw blurRad="76200" dist="25400" dir="5400000" algn="t" rotWithShape="0">
              <a:srgbClr val="A9B8C9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72459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lang="ja-JP" altLang="en-US">
                <a:solidFill>
                  <a:srgbClr val="1F4E79"/>
                </a:solidFill>
                <a:latin typeface="游ゴシック"/>
                <a:ea typeface="游ゴシック"/>
                <a:cs typeface="游ゴシック"/>
              </a:rPr>
              <a:t>出典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93083"/>
            <a:ext cx="502920" cy="2278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[1]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93083"/>
            <a:ext cx="10134295" cy="2871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社内の受付システムの記録（2026年4月〜9月）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4153433"/>
            <a:ext cx="10637215" cy="0"/>
          </a:xfrm>
          <a:prstGeom prst="line">
            <a:avLst/>
          </a:prstGeom>
          <a:ln w="9525">
            <a:solidFill>
              <a:srgbClr val="B9C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4263161"/>
            <a:ext cx="502920" cy="22783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lang="ja-JP" altLang="en-US">
                <a:solidFill>
                  <a:srgbClr val="1F4E79"/>
                </a:solidFill>
                <a:latin typeface="Arial"/>
                <a:ea typeface="游ゴシック"/>
                <a:cs typeface="Arial"/>
              </a:rPr>
              <a:t>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63161"/>
            <a:ext cx="10134295" cy="2871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00" b="0" lang="ja-JP" altLang="en-US">
                <a:solidFill>
                  <a:srgbClr val="44546A"/>
                </a:solidFill>
                <a:latin typeface="游ゴシック"/>
                <a:ea typeface="游ゴシック"/>
                <a:cs typeface="游ゴシック"/>
              </a:rPr>
              <a:t>社内アンケート（2026年9月、回答412名）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26AC6"/>
        </a:solidFill>
        <a:ln w="19050">
          <a:noFill/>
        </a:ln>
      </a:spPr>
      <a:bodyPr rtlCol="0" anchor="ctr"/>
      <a:lstStyle>
        <a:defPPr algn="ctr">
          <a:defRPr sz="1100" b="1" dirty="0">
            <a:solidFill>
              <a:schemeClr val="bg1">
                <a:lumMod val="95000"/>
              </a:schemeClr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cp:lastPrinted>2024-04-03T07:47:02Z</cp:lastPrinted>
  <dcterms:created xsi:type="dcterms:W3CDTF">2024-03-07T08:22:45Z</dcterms:created>
  <dcterms:modified xsi:type="dcterms:W3CDTF">2026-10-13T07:26:44Z</dcterms:modified>
  <dc:subject/>
  <cp:keywords/>
  <dc:description/>
  <cp:category/>
</cp:coreProperties>
</file>