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0"/>
    <p:sldId id="263" r:id="rId9"/>
    <p:sldId id="264" r:id="rId8"/>
    <p:sldId id="265" r:id="rId7"/>
    <p:sldId id="266" r:id="rId6"/>
    <p:sldId id="267" r:id="rId5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CAC8C8"/>
    <a:srgbClr val="DCEAF7"/>
    <a:srgbClr val="000000"/>
    <a:srgbClr val="163E64"/>
    <a:srgbClr val="758FAA"/>
    <a:srgbClr val="476A8D"/>
    <a:srgbClr val="194571"/>
    <a:srgbClr val="194671"/>
    <a:srgbClr val="215E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303CC2-A89F-4BA8-B579-02111506000A}" v="25" dt="2024-04-02T00:05:59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90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79" y="8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日中</c:v>
                </c:pt>
              </c:strCache>
            </c:strRef>
          </c:tx>
          <c:spPr>
            <a:solidFill>
              <a:srgbClr val="AEBCCC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420.0</c:v>
                </c:pt>
                <c:pt idx="1">
                  <c:v>410.0</c:v>
                </c:pt>
                <c:pt idx="2">
                  <c:v>430.0</c:v>
                </c:pt>
                <c:pt idx="3">
                  <c:v>415.0</c:v>
                </c:pt>
                <c:pt idx="4">
                  <c:v>405.0</c:v>
                </c:pt>
                <c:pt idx="5">
                  <c:v>420.0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夜間</c:v>
                </c:pt>
              </c:strCache>
            </c:strRef>
          </c:tx>
          <c:spPr>
            <a:solidFill>
              <a:srgbClr val="194671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1">
                    <a:solidFill>
                      <a:srgbClr val="1F4E79"/>
                    </a:solidFill>
                    <a:latin typeface="游ゴシック"/>
                    <a:ea typeface="游ゴシック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120.0</c:v>
                </c:pt>
                <c:pt idx="1">
                  <c:v>130.0</c:v>
                </c:pt>
                <c:pt idx="2">
                  <c:v>150.0</c:v>
                </c:pt>
                <c:pt idx="3">
                  <c:v>160.0</c:v>
                </c:pt>
                <c:pt idx="4">
                  <c:v>170.0</c:v>
                </c:pt>
                <c:pt idx="5">
                  <c:v>180.0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8496AB"/>
            </a:solidFill>
          </a:ln>
        </c:spPr>
        <c:txPr>
          <a:bodyPr/>
          <a:lstStyle/>
          <a:p>
            <a:pPr>
              <a:defRPr sz="1200">
                <a:solidFill>
                  <a:srgbClr val="44546A"/>
                </a:solidFill>
                <a:latin typeface="游ゴシック"/>
                <a:ea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  <c:min val="0.0"/>
        </c:scaling>
        <c:delete val="0"/>
        <c:axPos val="l"/>
        <c:majorGridlines>
          <c:spPr>
            <a:ln w="9525">
              <a:solidFill>
                <a:srgbClr val="D8E2EE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F6F84"/>
                </a:solidFill>
                <a:latin typeface="游ゴシック"/>
                <a:ea typeface="游ゴシック"/>
              </a:defRPr>
            </a:pPr>
          </a:p>
        </c:txPr>
        <c:crossAx val="-2068027336"/>
        <c:crosses val="autoZero"/>
        <c:majorUnit val="100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4546A"/>
              </a:solidFill>
              <a:latin typeface="游ゴシック"/>
              <a:ea typeface="游ゴシック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4546A"/>
          </a:solidFill>
          <a:latin typeface="游ゴシック"/>
          <a:ea typeface="游ゴシック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4AB67-2CBF-4D14-90A7-A000BFDE1A6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3542EE-0A7C-49F2-A217-E18F54692D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944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 hasCustomPrompt="1"/>
          </p:nvPr>
        </p:nvSpPr>
        <p:spPr>
          <a:xfrm>
            <a:off x="1384668" y="2102589"/>
            <a:ext cx="7961811" cy="1325563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  <a:br>
              <a:rPr kumimoji="1" lang="en-US" altLang="ja-JP" dirty="0"/>
            </a:br>
            <a:r>
              <a:rPr kumimoji="1" lang="ja-JP" altLang="en-US" dirty="0"/>
              <a:t>サブタイトル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49" y="2083359"/>
            <a:ext cx="0" cy="1269759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67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/>
          </p:nvPr>
        </p:nvSpPr>
        <p:spPr>
          <a:xfrm>
            <a:off x="1384669" y="2795769"/>
            <a:ext cx="7961811" cy="628770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3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  <p:sp>
        <p:nvSpPr>
          <p:cNvPr id="7" name="タイトル 1"/>
          <p:cNvSpPr>
            <a:spLocks noGrp="1"/>
          </p:cNvSpPr>
          <p:nvPr>
            <p:ph type="title"/>
          </p:nvPr>
        </p:nvSpPr>
        <p:spPr>
          <a:xfrm>
            <a:off x="1685925" y="2619420"/>
            <a:ext cx="8163469" cy="1325563"/>
          </a:xfrm>
        </p:spPr>
        <p:txBody>
          <a:bodyPr>
            <a:noAutofit/>
          </a:bodyPr>
          <a:lstStyle>
            <a:lvl1pPr algn="ctr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</p:spTree>
    <p:extLst>
      <p:ext uri="{BB962C8B-B14F-4D97-AF65-F5344CB8AC3E}">
        <p14:creationId xmlns:p14="http://schemas.microsoft.com/office/powerpoint/2010/main" val="2660778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C5995145-7A87-4C65-8D59-BD1094C30C57}"/>
              </a:ext>
            </a:extLst>
          </p:cNvPr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sp>
        <p:nvSpPr>
          <p:cNvPr id="31" name="直角三角形 30">
            <a:extLst>
              <a:ext uri="{FF2B5EF4-FFF2-40B4-BE49-F238E27FC236}">
                <a16:creationId xmlns:a16="http://schemas.microsoft.com/office/drawing/2014/main" id="{D1A5EFC1-56C7-72F5-03F2-EE984BD09823}"/>
              </a:ext>
            </a:extLst>
          </p:cNvPr>
          <p:cNvSpPr/>
          <p:nvPr userDrawn="1"/>
        </p:nvSpPr>
        <p:spPr>
          <a:xfrm rot="10800000" flipH="1">
            <a:off x="352156" y="263868"/>
            <a:ext cx="202488" cy="579460"/>
          </a:xfrm>
          <a:prstGeom prst="rtTriangle">
            <a:avLst/>
          </a:prstGeom>
          <a:gradFill flip="none" rotWithShape="1"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0E44F6B5-9D33-2A98-643B-7B353912755B}"/>
              </a:ext>
            </a:extLst>
          </p:cNvPr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>
              <a:extLst>
                <a:ext uri="{FF2B5EF4-FFF2-40B4-BE49-F238E27FC236}">
                  <a16:creationId xmlns:a16="http://schemas.microsoft.com/office/drawing/2014/main" id="{4C2E109A-9518-8BBA-83F7-F71BB09B5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372138D9-D1E2-CAC7-0C81-27B2B5459169}"/>
                </a:ext>
              </a:extLst>
            </p:cNvPr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57351" y="263868"/>
            <a:ext cx="10515600" cy="579460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0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54644" y="1064623"/>
            <a:ext cx="10518307" cy="537536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922530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776538"/>
            <a:ext cx="8982976" cy="646272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タイトルの書式設定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61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083359"/>
            <a:ext cx="8982976" cy="1339451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</a:t>
            </a:r>
            <a:br>
              <a:rPr kumimoji="1" lang="en-US" altLang="ja-JP" dirty="0"/>
            </a:br>
            <a:r>
              <a:rPr kumimoji="1" lang="ja-JP" altLang="en-US" dirty="0"/>
              <a:t>書式設定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083359"/>
            <a:ext cx="0" cy="12697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0626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最終ページ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2" b="7910"/>
          <a:stretch/>
        </p:blipFill>
        <p:spPr>
          <a:xfrm>
            <a:off x="0" y="0"/>
            <a:ext cx="12192927" cy="6894095"/>
          </a:xfrm>
          <a:prstGeom prst="rect">
            <a:avLst/>
          </a:prstGeom>
        </p:spPr>
      </p:pic>
      <p:sp>
        <p:nvSpPr>
          <p:cNvPr id="17" name="正方形/長方形 16"/>
          <p:cNvSpPr/>
          <p:nvPr userDrawn="1"/>
        </p:nvSpPr>
        <p:spPr>
          <a:xfrm>
            <a:off x="6385502" y="5676349"/>
            <a:ext cx="49179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東京都港区海岸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3-20-20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 ヨコソーレインボータワー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4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階</a:t>
            </a:r>
            <a:endParaRPr lang="en-US" altLang="ja-JP" sz="14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ea"/>
              <a:ea typeface="+mn-ea"/>
              <a:cs typeface="メイリオ" pitchFamily="50" charset="-128"/>
            </a:endParaRP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TEL:03-5418-8500(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代表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)</a:t>
            </a: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https://www.techvan.co.jp/</a:t>
            </a:r>
          </a:p>
        </p:txBody>
      </p:sp>
      <p:pic>
        <p:nvPicPr>
          <p:cNvPr id="18" name="図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769" y="240790"/>
            <a:ext cx="1337454" cy="198000"/>
          </a:xfrm>
          <a:prstGeom prst="rect">
            <a:avLst/>
          </a:prstGeom>
        </p:spPr>
      </p:pic>
      <p:sp>
        <p:nvSpPr>
          <p:cNvPr id="8" name="正方形/長方形 7"/>
          <p:cNvSpPr/>
          <p:nvPr userDrawn="1"/>
        </p:nvSpPr>
        <p:spPr>
          <a:xfrm>
            <a:off x="0" y="2852074"/>
            <a:ext cx="12192000" cy="1015663"/>
          </a:xfrm>
          <a:prstGeom prst="rect">
            <a:avLst/>
          </a:prstGeom>
          <a:solidFill>
            <a:srgbClr val="0070C0">
              <a:alpha val="39000"/>
            </a:srgbClr>
          </a:solidFill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ja-JP" sz="6000" b="1" dirty="0"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Thank you</a:t>
            </a:r>
          </a:p>
        </p:txBody>
      </p:sp>
      <p:sp>
        <p:nvSpPr>
          <p:cNvPr id="3" name="正方形/長方形 2"/>
          <p:cNvSpPr/>
          <p:nvPr userDrawn="1"/>
        </p:nvSpPr>
        <p:spPr>
          <a:xfrm>
            <a:off x="7828833" y="5292155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ja-JP" altLang="en-US" sz="18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  <a:ea typeface="+mj-ea"/>
                <a:cs typeface="メイリオ" pitchFamily="50" charset="-128"/>
              </a:rPr>
              <a:t>テクバン株式会社</a:t>
            </a:r>
            <a:endParaRPr lang="en-US" altLang="ja-JP" sz="18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lt"/>
              <a:ea typeface="+mj-ea"/>
              <a:cs typeface="メイリオ" pitchFamily="50" charset="-128"/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 userDrawn="1"/>
        </p:nvSpPr>
        <p:spPr bwMode="auto">
          <a:xfrm>
            <a:off x="0" y="6650284"/>
            <a:ext cx="121919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ctr" eaLnBrk="1" hangingPunct="1">
              <a:defRPr/>
            </a:pPr>
            <a:r>
              <a:rPr lang="en-US" altLang="ja-JP" sz="900" b="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Copyright(C) TechVan Co,Ltd</a:t>
            </a:r>
            <a:endParaRPr lang="en-US" altLang="ja-JP" sz="900" b="0" dirty="0">
              <a:solidFill>
                <a:schemeClr val="bg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700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VAN 本文（ラベル付き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/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/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grpSp>
        <p:nvGrpSpPr>
          <p:cNvPr id="42" name="グループ化 41"/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/>
            <p:cNvPicPr>
              <a:picLocks noChangeAspect="1"/>
            </p:cNvPicPr>
            <p:nvPr/>
          </p:nvPicPr>
          <p:blipFill>
            <a:blip r:embed="rId1" cstate="hqprint"/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/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02920" y="512064"/>
            <a:ext cx="11183112" cy="502920"/>
          </a:xfrm>
        </p:spPr>
        <p:txBody>
          <a:bodyPr lIns="0" rIns="0" anchor="ctr"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69CFA4B-8E29-9FDD-9EED-011F58C6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7418B3-C53F-52BF-F5E3-0329B498D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FB7CAE-EC93-414B-C009-62040C998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F722A2-6355-9E66-7702-E40B276C6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A58936-C906-7FC1-4F30-88C2D8D5B2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77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  <p:sldLayoutId id="2147483663" r:id="rId3"/>
    <p:sldLayoutId id="2147483656" r:id="rId4"/>
    <p:sldLayoutId id="2147483661" r:id="rId5"/>
    <p:sldLayoutId id="2147483662" r:id="rId6"/>
    <p:sldLayoutId id="2147483658" r:id="rId7"/>
    <p:sldLayoutId id="2147483664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8961120" cy="12801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社内ヘルプデスク</a:t>
            </a:r>
          </a:p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43400" y="19659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40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提 案 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― 夜間帯の待ち時間を半分にする3つの施策 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94760" y="4572000"/>
            <a:ext cx="3017520" cy="0"/>
          </a:xfrm>
          <a:prstGeom prst="line">
            <a:avLst/>
          </a:prstGeom>
          <a:ln w="12700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754880"/>
            <a:ext cx="89611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2026年10月</a:t>
            </a:r>
          </a:p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7" name="CONFIDENTIAL"/>
          <p:cNvSpPr/>
          <p:nvPr/>
        </p:nvSpPr>
        <p:spPr>
          <a:xfrm>
            <a:off x="822960" y="685800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本日の内容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AGENDA  -  目 次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2376" y="148132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3502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34840" y="1499616"/>
            <a:ext cx="0" cy="512063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09160" y="133502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問い合わせの件数と対応時間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9572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57860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3230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原因の分析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259689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09160" y="243230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対応が長引く理由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9300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67588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2958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34840" y="369417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09160" y="352958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77316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2686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次のアクション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34840" y="479145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09160" y="462686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決めていただきたいこと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741291" y="836081"/>
            <a:ext cx="671830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3つの施策で、夜間の待ち時間を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半分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SUMMARY  -  要 約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85855" cy="1096365"/>
          </a:xfrm>
          <a:prstGeom prst="roundRect">
            <a:avLst>
              <a:gd name="adj" fmla="val 5004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8203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71600"/>
            <a:ext cx="9448495" cy="95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手順の一本化・よくある質問の追加・夜間当番の増員で、夜間の平均待ち時間を48分 から24分 に短縮します。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原因は夜間の人手と手順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6882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36338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978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効果の大きい順に着手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0300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8940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初期費用は480万円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夜間は担当者2名で、製品ごとの手順書を行き来しています。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338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費用が小さく効果が大きい施策から、11月に始めます。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300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年間の運用費は120万円。残業代の削減で2年で回収できます。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01　現状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問い合わせは夜間帯だけが増えている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N o w  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840605" y="836081"/>
            <a:ext cx="765302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件数は横ばい、夜間の待ち時間は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に悪化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42415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2026年4月〜9月の受付記録を集計しました。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02920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問い合わせ件数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3,240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前年比+2.1%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6882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316882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夜間の平均待ち時間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4042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9762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日中は12分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30844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満足度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4.1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724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5点満点のアンケート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256405" y="836081"/>
            <a:ext cx="858774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夜間の問い合わせは、半年で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1.5倍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7371892" cy="4965192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4630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（単位：件）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04088" y="1737360"/>
          <a:ext cx="6969556" cy="4325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130844" y="1298448"/>
            <a:ext cx="3557930" cy="3042422"/>
          </a:xfrm>
          <a:prstGeom prst="roundRect">
            <a:avLst>
              <a:gd name="adj" fmla="val 1803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0300" y="1481328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読み取りのポイント</a:t>
            </a:r>
          </a:p>
        </p:txBody>
      </p:sp>
      <p:sp>
        <p:nvSpPr>
          <p:cNvPr id="11" name="Oval 10"/>
          <p:cNvSpPr/>
          <p:nvPr/>
        </p:nvSpPr>
        <p:spPr>
          <a:xfrm>
            <a:off x="8350300" y="197510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8940" y="2071497"/>
            <a:ext cx="1961949" cy="528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夜間は半年で1.5倍、日中はほぼ横ばい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50300" y="3020827"/>
            <a:ext cx="3119019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350300" y="347802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8940" y="3574420"/>
            <a:ext cx="1961949" cy="528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夜間の増加分の多くはアカウント関連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最も多いのはアカウント関連、全体の約3割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98448"/>
          <a:ext cx="11185854" cy="318211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38543"/>
                <a:gridCol w="980069"/>
                <a:gridCol w="980069"/>
                <a:gridCol w="1960138"/>
                <a:gridCol w="5227035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分類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件数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前年比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平均解決時間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主な内容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アカウント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1,020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-12%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1.2時間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パスワード再設定、ロック解除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PC・周辺機器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780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+8%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3.4時間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故障、プリンター設定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業務システム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+15%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3.9時間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操作方法、権限の申請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ネットワーク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430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+4%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2.8時間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VPN接続、無線LAN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その他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370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-3%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1.6時間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ソフトの導入、問い合わせ先の確認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90288"/>
            <a:ext cx="11185855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※ 件数は4月〜9月の合計。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夜間の待ち時間が長い原因は、人手と手順の両方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733288"/>
            <a:ext cx="11185855" cy="530352"/>
          </a:xfrm>
          <a:prstGeom prst="roundRect">
            <a:avLst>
              <a:gd name="adj" fmla="val 1034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人手の追加と、手順・情報の整理を同時に進める必要があります。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28016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1298448"/>
            <a:ext cx="10536631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</a:t>
            </a:r>
            <a:r>
              <a:rPr sz="16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2名</a:t>
            </a: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1682495"/>
            <a:ext cx="10536631" cy="6781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18〜21時の受付は日中の3割、担当者は日中の1割。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260053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02920" y="2525229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543517"/>
            <a:ext cx="10536631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手順書が製品ごとに分かれ、夜間向けの情報も無い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2927565"/>
            <a:ext cx="10536631" cy="6781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切り分けに平均42分。夜間に多いアカウント関連の質問も、まだ公開されていません。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利用者の声：夜は「待つしかない」と感じている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5464911" cy="1550212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349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5349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10512"/>
            <a:ext cx="4843119" cy="789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夜に問い合わせると、返事が来るまで仕事が止まってしまいます。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32708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279" y="3306409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3250996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営業部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534460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Aさん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1298448"/>
            <a:ext cx="5464911" cy="1550212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6293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36293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9895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4759" y="1810512"/>
            <a:ext cx="4843119" cy="789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同じ質問を何度もしているので、ページで調べられると助かります。</a:t>
            </a:r>
          </a:p>
        </p:txBody>
      </p:sp>
      <p:sp>
        <p:nvSpPr>
          <p:cNvPr id="19" name="Oval 18"/>
          <p:cNvSpPr/>
          <p:nvPr/>
        </p:nvSpPr>
        <p:spPr>
          <a:xfrm>
            <a:off x="6498183" y="3232708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222" y="3306409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1415" y="3250996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開発部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1415" y="3534460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Bさん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02　原因の分析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なぜ夜間だけ長くなるのか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W h y  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待ち時間を延ばす原因は、受付・切り分け・回答の3か所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39147" y="1645920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03739" y="1645920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受付までが遅い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73787" y="1298448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091" y="1298448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当番が2名だけ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73787" y="2103120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091" y="2103120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電話とチャットが分かれている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3707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53747" y="1655064"/>
            <a:ext cx="0" cy="804672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53747" y="1655064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53747" y="2459736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39147" y="3383280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3739" y="3383280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切り分けが遅い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73787" y="3035808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091" y="3035808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手順書が製品ごとに分散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73787" y="3840480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091" y="3840480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過去の対応が探しにくい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33707" y="3794760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53747" y="3392424"/>
            <a:ext cx="0" cy="804672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53747" y="3392424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53747" y="4197096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39147" y="4773168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3739" y="4773168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回答が往復する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3787" y="4828032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091" y="4828032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確認事項が決まっていない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33707" y="5184648"/>
            <a:ext cx="64008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2920" y="3291840"/>
            <a:ext cx="2596147" cy="1005840"/>
          </a:xfrm>
          <a:prstGeom prst="roundRect">
            <a:avLst>
              <a:gd name="adj" fmla="val 545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91840"/>
            <a:ext cx="2230387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夜間の待ち時間が長い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19107" y="2057400"/>
            <a:ext cx="0" cy="3127248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19107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19107" y="5184648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099067" y="3794760"/>
            <a:ext cx="64008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対応が長引く理由は、仕組みの側にある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35017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01789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1016" y="2017897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03113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似た症状でも参照先が異なり、担当者は複数の手順書を行き来しています。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35017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3319" y="201789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1959" y="2017897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回答テンプレートの不足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3319" y="2603113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確認すべき事項が決まっておらず、追加の質問が往復しています。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09060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" y="409194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409194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履歴が探しにくい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677156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過去の対応記録が自由記述で、同じ事例を探すのに時間がかかります。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909060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3319" y="409194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1959" y="409194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シフトと受付の山のずれ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319" y="4677156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夜間の件数増加に、当番の人数が追いついていません。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着手は「効果が大きく、手間が小さい」施策から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9848" y="1353312"/>
            <a:ext cx="0" cy="4562856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" y="5916168"/>
            <a:ext cx="10618927" cy="0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86968" y="2967228"/>
            <a:ext cx="365760" cy="100584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86968" y="2967228"/>
            <a:ext cx="36576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効</a:t>
            </a:r>
          </a:p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12664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0127" y="5738241"/>
            <a:ext cx="1005840" cy="35585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5735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36776" y="1481328"/>
            <a:ext cx="1071880" cy="35585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すぐやる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6776" y="1946909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回答テンプレート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81063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0519" y="1481328"/>
            <a:ext cx="14020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計画してやる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0519" y="1946909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36776" y="3781044"/>
            <a:ext cx="14020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余力があれば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4246625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受付時間の案内の改善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1063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0519" y="3781044"/>
            <a:ext cx="15671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今回はやらない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0519" y="4246625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受付システムの入れ替え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03　改善のご提案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P l a n  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手順の一本化で、切り分けは3段階から1段階に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98567" cy="2699979"/>
          </a:xfrm>
          <a:prstGeom prst="roundRect">
            <a:avLst>
              <a:gd name="adj" fmla="val 203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1005840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9112"/>
            <a:ext cx="4449927" cy="335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製品ごとに手順書が分かれている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84120"/>
            <a:ext cx="4449927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593848"/>
            <a:ext cx="4449927" cy="11668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症状から手順書を探す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製品ごとに確認方法が違う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切り分けに平均42分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90207" y="1298448"/>
            <a:ext cx="4998567" cy="2699979"/>
          </a:xfrm>
          <a:prstGeom prst="roundRect">
            <a:avLst>
              <a:gd name="adj" fmla="val 2032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64527" y="1572768"/>
            <a:ext cx="1005840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改善後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527" y="2039112"/>
            <a:ext cx="4449927" cy="335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症状から1つの手順に入る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64527" y="2484120"/>
            <a:ext cx="4449928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64527" y="2593848"/>
            <a:ext cx="4449927" cy="11668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症状の一覧から1つの手順に入る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切り分けは15分 以内</a:t>
            </a:r>
          </a:p>
        </p:txBody>
      </p:sp>
      <p:sp>
        <p:nvSpPr>
          <p:cNvPr id="15" name="Chevron 14"/>
          <p:cNvSpPr/>
          <p:nvPr/>
        </p:nvSpPr>
        <p:spPr>
          <a:xfrm>
            <a:off x="5858103" y="2054077"/>
            <a:ext cx="475488" cy="786384"/>
          </a:xfrm>
          <a:prstGeom prst="chevron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6351" y="2913613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一本化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費用と効果のバランスは、B案（段階導入）が最良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10530" y="1440179"/>
            <a:ext cx="3198266" cy="4823459"/>
          </a:xfrm>
          <a:prstGeom prst="roundRect">
            <a:avLst>
              <a:gd name="adj" fmla="val 1715"/>
            </a:avLst>
          </a:prstGeom>
          <a:solidFill>
            <a:srgbClr val="DCE8F5"/>
          </a:solidFill>
          <a:ln w="12700">
            <a:noFill/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30552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67712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A案：一括導入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全社で一度に効果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970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9130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B案：段階導入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9130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2期に分けて導入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73388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0548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C案：現状維持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10548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費用はかからない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20695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3409568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30552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1970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73388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09568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429844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30552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1970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3388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98441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期間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187314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30552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1970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3388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87314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現場の負担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6076187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30552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1970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73388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10530" y="1440179"/>
            <a:ext cx="3198266" cy="4823459"/>
          </a:xfrm>
          <a:prstGeom prst="roundRect">
            <a:avLst>
              <a:gd name="adj" fmla="val 1715"/>
            </a:avLst>
          </a:prstGeom>
          <a:noFill/>
          <a:ln w="254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61023" y="1298447"/>
            <a:ext cx="1097280" cy="28346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おすすめ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4つのステップ、3か月で全社に展開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Pentagon 4"/>
          <p:cNvSpPr/>
          <p:nvPr/>
        </p:nvSpPr>
        <p:spPr>
          <a:xfrm>
            <a:off x="502920" y="1298448"/>
            <a:ext cx="2604439" cy="512064"/>
          </a:xfrm>
          <a:prstGeom prst="homePlate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986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7" name="Chevron 6"/>
          <p:cNvSpPr/>
          <p:nvPr/>
        </p:nvSpPr>
        <p:spPr>
          <a:xfrm>
            <a:off x="3363391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8458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9" name="Chevron 8"/>
          <p:cNvSpPr/>
          <p:nvPr/>
        </p:nvSpPr>
        <p:spPr>
          <a:xfrm>
            <a:off x="6223863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930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Chevron 10"/>
          <p:cNvSpPr/>
          <p:nvPr/>
        </p:nvSpPr>
        <p:spPr>
          <a:xfrm>
            <a:off x="9084335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9402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0736"/>
            <a:ext cx="2238679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受付記録を分析し、夜間に多い質問を洗い出す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3391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6271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6271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6271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6271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症状から入る手順書を作り、担当者で試す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3863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試行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6743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6743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夜間帯で試し、待ち時間を毎週はかる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4335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7215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7215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7215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267215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効果を確認し、日中の受付にも広げる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10月に準備、12月に試行、2月に全社へ展開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5855" cy="347472"/>
          </a:xfrm>
          <a:prstGeom prst="rect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298448"/>
            <a:ext cx="175564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タスク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1176" y="1298448"/>
            <a:ext cx="130454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9728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9023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8319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7615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6911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45919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999232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75887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352544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029200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02920" y="2322576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" y="2999232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" y="3675887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2920" y="4352544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" y="5029200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2920" y="5705855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51591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10887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0183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129479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14600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892296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2920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88775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6" y="1645919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9464" y="1645919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5448" y="1837943"/>
            <a:ext cx="141299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2322576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9464" y="2322576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5448" y="2514600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2999232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9464" y="2999232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24743" y="3191256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3675887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675887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24743" y="3867911"/>
            <a:ext cx="141299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" y="4352544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夜間の試行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9464" y="4352544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84039" y="4544568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5029200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9464" y="5029200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50" name="Diamond 49"/>
          <p:cNvSpPr/>
          <p:nvPr/>
        </p:nvSpPr>
        <p:spPr>
          <a:xfrm>
            <a:off x="10735391" y="5193792"/>
            <a:ext cx="347472" cy="347472"/>
          </a:xfrm>
          <a:prstGeom prst="diamond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3チーム・9名の体制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94252" y="1298448"/>
            <a:ext cx="3803190" cy="914400"/>
          </a:xfrm>
          <a:prstGeom prst="roundRect">
            <a:avLst>
              <a:gd name="adj" fmla="val 6000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50284" y="149961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27093" y="1566184"/>
            <a:ext cx="358444" cy="35844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5228" y="1431988"/>
            <a:ext cx="2632758" cy="25717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プロジェクト責任者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5228" y="1689163"/>
            <a:ext cx="2632758" cy="3901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情報システム部長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2212848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81885" y="2496312"/>
            <a:ext cx="7627925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281885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909810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02920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17" name="Oval 16"/>
          <p:cNvSpPr/>
          <p:nvPr/>
        </p:nvSpPr>
        <p:spPr>
          <a:xfrm>
            <a:off x="2053285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21865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70299" y="4315968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6882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316882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24" name="Oval 23"/>
          <p:cNvSpPr/>
          <p:nvPr/>
        </p:nvSpPr>
        <p:spPr>
          <a:xfrm>
            <a:off x="5867247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35827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9762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84261" y="4315968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99762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手順書・よくある質問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0844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8130844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31" name="Oval 30"/>
          <p:cNvSpPr/>
          <p:nvPr/>
        </p:nvSpPr>
        <p:spPr>
          <a:xfrm>
            <a:off x="9681210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49790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3724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98223" y="4315968"/>
            <a:ext cx="1423173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13724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夜間当番・効果の測定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1919605" y="836081"/>
            <a:ext cx="1250188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480万円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、年間の運用費は120万円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E0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7371891" cy="318211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420621"/>
                <a:gridCol w="3300847"/>
                <a:gridCol w="1650423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金額（万円）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受付記録の分析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手順書の一本化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よくある質問の作成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20件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チャット受付の設定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既存の仕組みを利用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初期費用 合計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30844" y="1298448"/>
            <a:ext cx="3557930" cy="162488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8130844" y="129844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初期費用 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8004" y="1737360"/>
            <a:ext cx="3283610" cy="10945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0844" y="3142792"/>
            <a:ext cx="3557930" cy="1337767"/>
          </a:xfrm>
          <a:prstGeom prst="roundRect">
            <a:avLst>
              <a:gd name="adj" fmla="val 4101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2012" y="3289096"/>
            <a:ext cx="315559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前提・注記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012" y="3636568"/>
            <a:ext cx="3155594" cy="715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金額は税抜き・概算</a:t>
            </a:r>
          </a:p>
          <a:p>
            <a:pPr algn="l" marL="201168" indent="-201168">
              <a:lnSpc>
                <a:spcPct val="105000"/>
              </a:lnSpc>
              <a:spcBef>
                <a:spcPts val="3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運用費（年間120万円）は別途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主なリスクは2つ。どちらも事前の対策で抑えられる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2984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影響度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8216" y="1298448"/>
            <a:ext cx="328024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リスク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5661" y="1298448"/>
            <a:ext cx="4174857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3399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19"/>
            <a:ext cx="11185855" cy="1188720"/>
          </a:xfrm>
          <a:prstGeom prst="roundRect">
            <a:avLst>
              <a:gd name="adj" fmla="val 4615"/>
            </a:avLst>
          </a:prstGeom>
          <a:solidFill>
            <a:srgbClr val="DCE8F5"/>
          </a:solidFill>
          <a:ln w="15875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2071115"/>
            <a:ext cx="658368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1700784"/>
            <a:ext cx="3188805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移行期間に現場の負担が増える</a:t>
            </a:r>
          </a:p>
        </p:txBody>
      </p:sp>
      <p:sp>
        <p:nvSpPr>
          <p:cNvPr id="12" name="Chevron 11"/>
          <p:cNvSpPr/>
          <p:nvPr/>
        </p:nvSpPr>
        <p:spPr>
          <a:xfrm>
            <a:off x="5145621" y="2103120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0525" y="1700784"/>
            <a:ext cx="4065129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移行期間は当番を1名追加する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3399" y="1700784"/>
            <a:ext cx="155448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17520"/>
            <a:ext cx="1118585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" y="3442715"/>
            <a:ext cx="658368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3072384"/>
            <a:ext cx="3188805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新しい手順書が使われない</a:t>
            </a:r>
          </a:p>
        </p:txBody>
      </p:sp>
      <p:sp>
        <p:nvSpPr>
          <p:cNvPr id="18" name="Chevron 17"/>
          <p:cNvSpPr/>
          <p:nvPr/>
        </p:nvSpPr>
        <p:spPr>
          <a:xfrm>
            <a:off x="5145621" y="3474720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0525" y="3072384"/>
            <a:ext cx="4065129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試行期間に担当者の意見を反映する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3399" y="3072384"/>
            <a:ext cx="155448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04　次のアクション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準備の状況と、決めていただきたいこと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N e x t  -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準備は5件中4件が順調、1件は人員の手当てが必要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832103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全5件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39" y="1298448"/>
            <a:ext cx="935736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完了1件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8504" y="1298448"/>
            <a:ext cx="1088136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進行中2件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6367" y="1298448"/>
            <a:ext cx="935736" cy="338328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遅延1件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1832" y="1298448"/>
            <a:ext cx="1088136" cy="338328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未着手1件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83794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状況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5" y="1837943"/>
            <a:ext cx="210809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項目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2070" y="183794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進捗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8070" y="183794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5430" y="1837943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6990" y="1837943"/>
            <a:ext cx="228376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備考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2148839"/>
            <a:ext cx="11185855" cy="0"/>
          </a:xfrm>
          <a:prstGeom prst="line">
            <a:avLst/>
          </a:prstGeom>
          <a:ln w="1270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2318003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1095" y="2148839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2070" y="2414015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2070" y="2414015"/>
            <a:ext cx="1463040" cy="14630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38262" y="2148839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8070" y="2148839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5430" y="2148839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10/31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825496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5800" y="2994660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11095" y="2825496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2070" y="3090672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02070" y="3090672"/>
            <a:ext cx="1024127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8262" y="2825496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8070" y="2825496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5430" y="2825496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3502152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5800" y="3671316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11095" y="3502152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手順書の下書き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2070" y="3767328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02070" y="3767328"/>
            <a:ext cx="585215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8262" y="3502152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8070" y="3502152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5430" y="3502152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206240"/>
            <a:ext cx="11185855" cy="621792"/>
          </a:xfrm>
          <a:prstGeom prst="roundRect">
            <a:avLst>
              <a:gd name="adj" fmla="val 8823"/>
            </a:avLst>
          </a:prstGeom>
          <a:solidFill>
            <a:srgbClr val="DCE8F5"/>
          </a:solidFill>
          <a:ln w="15875">
            <a:solidFill>
              <a:srgbClr val="A33A3A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" y="4347972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11095" y="4178808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2070" y="4443984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02070" y="4443984"/>
            <a:ext cx="438911" cy="146304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38262" y="4178808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88070" y="4178808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5430" y="4178808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76990" y="4178808"/>
            <a:ext cx="2283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A33A3A"/>
                </a:solidFill>
                <a:latin typeface="游ゴシック"/>
                <a:ea typeface="游ゴシック"/>
                <a:cs typeface="游ゴシック"/>
              </a:rPr>
              <a:t>候補者を調整中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024628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1095" y="4855464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効果の測定方法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2070" y="5120640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38262" y="4855464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8070" y="4855464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5430" y="4855464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12/1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11月の部会で決めていただきたい3点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298448"/>
            <a:ext cx="73362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5575" y="12984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12984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19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" y="189280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1682495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B案（段階導入）での実施を承認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45575" y="1847088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408615" y="1847088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15145" y="1947672"/>
            <a:ext cx="723900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部会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1682495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299008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779776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夜間当番の増員（1名）を決定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45575" y="294436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408615" y="294436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48470" y="3044952"/>
            <a:ext cx="857250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2779776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404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376" y="408736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4029456"/>
            <a:ext cx="7336231" cy="298704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初期費用480万円の予算を確保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4355592"/>
            <a:ext cx="73362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下期の予備費から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45575" y="404164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08615" y="404164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15120" y="4142232"/>
            <a:ext cx="1123949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経営企画部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0055" y="3877056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98448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368552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日中の受付も変わりますか？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06905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1月以降、効果を確かめてから日中にも同じ手順を広げます。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2619679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02920" y="2985439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55543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チャットだけになりますか？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497503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93896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電話の受付は続けます。定型の質問だけをチャットで先に受けます。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430667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2920" y="4672431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42535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夜間の当番は誰が担当しますか？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18449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80888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交代制とし、担当した人には手当を出します。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注記および出典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1616811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99616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0240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本資料は見本です。数値・組織名はすべて架空のものです。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280589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390317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90317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待ち時間は受付から担当者が最初に返信するまでの時間です。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71291"/>
            <a:ext cx="11185855" cy="1616811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72459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出典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93083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3083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社内の受付システムの記録（2026年4月〜9月）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4153433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4263161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63161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社内アンケート（2026年9月、回答412名）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26AC6"/>
        </a:solidFill>
        <a:ln w="19050">
          <a:noFill/>
        </a:ln>
      </a:spPr>
      <a:bodyPr rtlCol="0" anchor="ctr"/>
      <a:lstStyle>
        <a:defPPr algn="ctr">
          <a:defRPr sz="1100" b="1" dirty="0">
            <a:solidFill>
              <a:schemeClr val="bg1">
                <a:lumMod val="9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cp:lastPrinted>2024-04-03T07:47:02Z</cp:lastPrinted>
  <dcterms:created xsi:type="dcterms:W3CDTF">2024-03-07T08:22:45Z</dcterms:created>
  <dcterms:modified xsi:type="dcterms:W3CDTF">2026-10-13T07:26:44Z</dcterms:modified>
  <dc:subject/>
  <cp:keywords/>
  <dc:description/>
  <cp:category/>
</cp:coreProperties>
</file>